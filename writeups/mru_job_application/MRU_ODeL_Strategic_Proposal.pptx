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82"/>
  </p:normalViewPr>
  <p:slideViewPr>
    <p:cSldViewPr snapToGrid="0" snapToObjects="1">
      <p:cViewPr varScale="1">
        <p:scale>
          <a:sx n="123" d="100"/>
          <a:sy n="123" d="100"/>
        </p:scale>
        <p:origin x="2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05840" y="1097280"/>
            <a:ext cx="9601200" cy="127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463040"/>
            <a:ext cx="9144000" cy="822960"/>
          </a:xfrm>
          <a:prstGeom prst="rect">
            <a:avLst/>
          </a:prstGeom>
          <a:noFill/>
        </p:spPr>
        <p:txBody>
          <a:bodyPr wrap="square">
            <a:spAutoFit/>
          </a:bodyPr>
          <a:lstStyle/>
          <a:p>
            <a:pPr algn="l"/>
            <a:r>
              <a:rPr sz="4600" b="1" i="0">
                <a:solidFill>
                  <a:srgbClr val="FFFFFF"/>
                </a:solidFill>
                <a:latin typeface="Calibri Light"/>
              </a:rPr>
              <a:t>Restoring &amp; Reimagining</a:t>
            </a:r>
          </a:p>
        </p:txBody>
      </p:sp>
      <p:sp>
        <p:nvSpPr>
          <p:cNvPr id="5" name="TextBox 4"/>
          <p:cNvSpPr txBox="1"/>
          <p:nvPr/>
        </p:nvSpPr>
        <p:spPr>
          <a:xfrm>
            <a:off x="1005840" y="2286000"/>
            <a:ext cx="9144000" cy="822960"/>
          </a:xfrm>
          <a:prstGeom prst="rect">
            <a:avLst/>
          </a:prstGeom>
          <a:noFill/>
        </p:spPr>
        <p:txBody>
          <a:bodyPr wrap="square">
            <a:spAutoFit/>
          </a:bodyPr>
          <a:lstStyle/>
          <a:p>
            <a:pPr algn="l"/>
            <a:r>
              <a:rPr sz="4600" b="1" i="0">
                <a:solidFill>
                  <a:srgbClr val="C89616"/>
                </a:solidFill>
                <a:latin typeface="Calibri Light"/>
              </a:rPr>
              <a:t>ODeL at Muteesa I Royal University</a:t>
            </a:r>
          </a:p>
        </p:txBody>
      </p:sp>
      <p:sp>
        <p:nvSpPr>
          <p:cNvPr id="6" name="TextBox 5"/>
          <p:cNvSpPr txBox="1"/>
          <p:nvPr/>
        </p:nvSpPr>
        <p:spPr>
          <a:xfrm>
            <a:off x="1005840" y="3566160"/>
            <a:ext cx="7315200" cy="548640"/>
          </a:xfrm>
          <a:prstGeom prst="rect">
            <a:avLst/>
          </a:prstGeom>
          <a:noFill/>
        </p:spPr>
        <p:txBody>
          <a:bodyPr wrap="square">
            <a:spAutoFit/>
          </a:bodyPr>
          <a:lstStyle/>
          <a:p>
            <a:pPr algn="l"/>
            <a:r>
              <a:rPr sz="2200" b="0" i="0">
                <a:solidFill>
                  <a:srgbClr val="AABBCC"/>
                </a:solidFill>
                <a:latin typeface="Calibri Light"/>
              </a:rPr>
              <a:t>A Strategic Proposal to the Vice Chancellor’s Office</a:t>
            </a:r>
          </a:p>
        </p:txBody>
      </p:sp>
      <p:sp>
        <p:nvSpPr>
          <p:cNvPr id="7" name="Rectangle 6"/>
          <p:cNvSpPr/>
          <p:nvPr/>
        </p:nvSpPr>
        <p:spPr>
          <a:xfrm>
            <a:off x="1005840" y="4389120"/>
            <a:ext cx="2286000"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4754880"/>
            <a:ext cx="5486400" cy="365760"/>
          </a:xfrm>
          <a:prstGeom prst="rect">
            <a:avLst/>
          </a:prstGeom>
          <a:noFill/>
        </p:spPr>
        <p:txBody>
          <a:bodyPr wrap="square">
            <a:spAutoFit/>
          </a:bodyPr>
          <a:lstStyle/>
          <a:p>
            <a:pPr algn="l"/>
            <a:r>
              <a:rPr sz="1800" b="0" i="0">
                <a:solidFill>
                  <a:srgbClr val="FFFFFF"/>
                </a:solidFill>
                <a:latin typeface="Calibri"/>
              </a:rPr>
              <a:t>Presented by: Muhindo Mubaraka</a:t>
            </a:r>
          </a:p>
        </p:txBody>
      </p:sp>
      <p:sp>
        <p:nvSpPr>
          <p:cNvPr id="9" name="TextBox 8"/>
          <p:cNvSpPr txBox="1"/>
          <p:nvPr/>
        </p:nvSpPr>
        <p:spPr>
          <a:xfrm>
            <a:off x="1005840" y="5166360"/>
            <a:ext cx="5486400" cy="365760"/>
          </a:xfrm>
          <a:prstGeom prst="rect">
            <a:avLst/>
          </a:prstGeom>
          <a:noFill/>
        </p:spPr>
        <p:txBody>
          <a:bodyPr wrap="square">
            <a:spAutoFit/>
          </a:bodyPr>
          <a:lstStyle/>
          <a:p>
            <a:pPr algn="l"/>
            <a:r>
              <a:rPr sz="1500" b="0" i="0">
                <a:solidFill>
                  <a:srgbClr val="888888"/>
                </a:solidFill>
                <a:latin typeface="Calibri"/>
              </a:rPr>
              <a:t>February 2026</a:t>
            </a:r>
          </a:p>
        </p:txBody>
      </p:sp>
      <p:sp>
        <p:nvSpPr>
          <p:cNvPr id="10" name="TextBox 9"/>
          <p:cNvSpPr txBox="1"/>
          <p:nvPr/>
        </p:nvSpPr>
        <p:spPr>
          <a:xfrm>
            <a:off x="1005840" y="5623560"/>
            <a:ext cx="5486400" cy="365760"/>
          </a:xfrm>
          <a:prstGeom prst="rect">
            <a:avLst/>
          </a:prstGeom>
          <a:noFill/>
        </p:spPr>
        <p:txBody>
          <a:bodyPr wrap="square">
            <a:spAutoFit/>
          </a:bodyPr>
          <a:lstStyle/>
          <a:p>
            <a:pPr algn="l"/>
            <a:r>
              <a:rPr sz="1100" b="0" i="1">
                <a:solidFill>
                  <a:srgbClr val="778899"/>
                </a:solidFill>
                <a:latin typeface="Calibri"/>
              </a:rPr>
              <a:t>Confidential — For Internal Use Only</a:t>
            </a:r>
          </a:p>
        </p:txBody>
      </p:sp>
      <p:sp>
        <p:nvSpPr>
          <p:cNvPr id="11" name="Rectangle 10"/>
          <p:cNvSpPr/>
          <p:nvPr/>
        </p:nvSpPr>
        <p:spPr>
          <a:xfrm>
            <a:off x="1005840" y="6217920"/>
            <a:ext cx="9601200" cy="127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2/18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Agenda</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00200"/>
            <a:ext cx="7315200" cy="5029200"/>
          </a:xfrm>
          <a:prstGeom prst="rect">
            <a:avLst/>
          </a:prstGeom>
          <a:noFill/>
        </p:spPr>
        <p:txBody>
          <a:bodyPr wrap="square">
            <a:spAutoFit/>
          </a:bodyPr>
          <a:lstStyle/>
          <a:p>
            <a:pPr algn="l">
              <a:spcAft>
                <a:spcPts val="1100"/>
              </a:spcAft>
            </a:pPr>
            <a:r>
              <a:rPr sz="1900" b="0">
                <a:solidFill>
                  <a:srgbClr val="2D2D2D"/>
                </a:solidFill>
                <a:latin typeface="Calibri"/>
              </a:rPr>
              <a:t>1.   Understanding ODeL &amp; Its National Significance</a:t>
            </a:r>
          </a:p>
          <a:p>
            <a:pPr algn="l">
              <a:spcAft>
                <a:spcPts val="1100"/>
              </a:spcAft>
            </a:pPr>
            <a:r>
              <a:rPr sz="1900" b="0">
                <a:solidFill>
                  <a:srgbClr val="2D2D2D"/>
                </a:solidFill>
                <a:latin typeface="Calibri"/>
              </a:rPr>
              <a:t>2.   Where Uganda’s Universities Stand Today</a:t>
            </a:r>
          </a:p>
          <a:p>
            <a:pPr algn="l">
              <a:spcAft>
                <a:spcPts val="1100"/>
              </a:spcAft>
            </a:pPr>
            <a:r>
              <a:rPr sz="1900" b="0">
                <a:solidFill>
                  <a:srgbClr val="2D2D2D"/>
                </a:solidFill>
                <a:latin typeface="Calibri"/>
              </a:rPr>
              <a:t>3.   The Current Crisis at MRU</a:t>
            </a:r>
          </a:p>
          <a:p>
            <a:pPr algn="l">
              <a:spcAft>
                <a:spcPts val="1100"/>
              </a:spcAft>
            </a:pPr>
            <a:r>
              <a:rPr sz="1900" b="0">
                <a:solidFill>
                  <a:srgbClr val="2D2D2D"/>
                </a:solidFill>
                <a:latin typeface="Calibri"/>
              </a:rPr>
              <a:t>4.   What We Lose Every Semester</a:t>
            </a:r>
          </a:p>
          <a:p>
            <a:pPr algn="l">
              <a:spcAft>
                <a:spcPts val="1100"/>
              </a:spcAft>
            </a:pPr>
            <a:r>
              <a:rPr sz="1900" b="0">
                <a:solidFill>
                  <a:srgbClr val="2D2D2D"/>
                </a:solidFill>
                <a:latin typeface="Calibri"/>
              </a:rPr>
              <a:t>5.   The Opportunity Ahead</a:t>
            </a:r>
          </a:p>
          <a:p>
            <a:pPr algn="l">
              <a:spcAft>
                <a:spcPts val="1100"/>
              </a:spcAft>
            </a:pPr>
            <a:r>
              <a:rPr sz="1900" b="0">
                <a:solidFill>
                  <a:srgbClr val="2D2D2D"/>
                </a:solidFill>
                <a:latin typeface="Calibri"/>
              </a:rPr>
              <a:t>6.   Platform Branding &amp; Architecture</a:t>
            </a:r>
          </a:p>
          <a:p>
            <a:pPr algn="l">
              <a:spcAft>
                <a:spcPts val="1100"/>
              </a:spcAft>
            </a:pPr>
            <a:r>
              <a:rPr sz="1900" b="0">
                <a:solidFill>
                  <a:srgbClr val="2D2D2D"/>
                </a:solidFill>
                <a:latin typeface="Calibri"/>
              </a:rPr>
              <a:t>7.   Platform Capabilities &amp; Custom Integrations</a:t>
            </a:r>
          </a:p>
          <a:p>
            <a:pPr algn="l">
              <a:spcAft>
                <a:spcPts val="1100"/>
              </a:spcAft>
            </a:pPr>
            <a:r>
              <a:rPr sz="1900" b="0">
                <a:solidFill>
                  <a:srgbClr val="2D2D2D"/>
                </a:solidFill>
                <a:latin typeface="Calibri"/>
              </a:rPr>
              <a:t>8.   Why Cloud VPS — Not a Local Server</a:t>
            </a:r>
          </a:p>
          <a:p>
            <a:pPr algn="l">
              <a:spcAft>
                <a:spcPts val="1100"/>
              </a:spcAft>
            </a:pPr>
            <a:r>
              <a:rPr sz="1900" b="0">
                <a:solidFill>
                  <a:srgbClr val="2D2D2D"/>
                </a:solidFill>
                <a:latin typeface="Calibri"/>
              </a:rPr>
              <a:t>9.   Institutional Adoption Policies</a:t>
            </a:r>
          </a:p>
          <a:p>
            <a:pPr algn="l">
              <a:spcAft>
                <a:spcPts val="1100"/>
              </a:spcAft>
            </a:pPr>
            <a:r>
              <a:rPr sz="1900" b="0">
                <a:solidFill>
                  <a:srgbClr val="2D2D2D"/>
                </a:solidFill>
                <a:latin typeface="Calibri"/>
              </a:rPr>
              <a:t>10.  Phased Implementation Roadmap</a:t>
            </a:r>
          </a:p>
          <a:p>
            <a:pPr algn="l">
              <a:spcAft>
                <a:spcPts val="1100"/>
              </a:spcAft>
            </a:pPr>
            <a:r>
              <a:rPr sz="1900" b="0">
                <a:solidFill>
                  <a:srgbClr val="2D2D2D"/>
                </a:solidFill>
                <a:latin typeface="Calibri"/>
              </a:rPr>
              <a:t>11.  Training &amp; Capacity Building</a:t>
            </a:r>
          </a:p>
          <a:p>
            <a:pPr algn="l">
              <a:spcAft>
                <a:spcPts val="1100"/>
              </a:spcAft>
            </a:pPr>
            <a:r>
              <a:rPr sz="1900" b="0">
                <a:solidFill>
                  <a:srgbClr val="2D2D2D"/>
                </a:solidFill>
                <a:latin typeface="Calibri"/>
              </a:rPr>
              <a:t>12.  Revenue Model &amp; Budget</a:t>
            </a:r>
          </a:p>
          <a:p>
            <a:pPr algn="l">
              <a:spcAft>
                <a:spcPts val="1100"/>
              </a:spcAft>
            </a:pPr>
            <a:r>
              <a:rPr sz="1900" b="0">
                <a:solidFill>
                  <a:srgbClr val="2D2D2D"/>
                </a:solidFill>
                <a:latin typeface="Calibri"/>
              </a:rPr>
              <a:t>13.  Risks &amp; Mitigation</a:t>
            </a:r>
          </a:p>
          <a:p>
            <a:pPr algn="l">
              <a:spcAft>
                <a:spcPts val="1100"/>
              </a:spcAft>
            </a:pPr>
            <a:r>
              <a:rPr sz="1900" b="0">
                <a:solidFill>
                  <a:srgbClr val="2D2D2D"/>
                </a:solidFill>
                <a:latin typeface="Calibri"/>
              </a:rPr>
              <a:t>14.  Immediate Next Steps</a:t>
            </a:r>
          </a:p>
        </p:txBody>
      </p:sp>
      <p:sp>
        <p:nvSpPr>
          <p:cNvPr id="9" name="Rectangle 8"/>
          <p:cNvSpPr/>
          <p:nvPr/>
        </p:nvSpPr>
        <p:spPr>
          <a:xfrm>
            <a:off x="9326880" y="1783080"/>
            <a:ext cx="2286000" cy="43891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0" y="2423160"/>
            <a:ext cx="1920240" cy="914400"/>
          </a:xfrm>
          <a:prstGeom prst="rect">
            <a:avLst/>
          </a:prstGeom>
          <a:noFill/>
        </p:spPr>
        <p:txBody>
          <a:bodyPr wrap="square">
            <a:spAutoFit/>
          </a:bodyPr>
          <a:lstStyle/>
          <a:p>
            <a:pPr algn="ctr"/>
            <a:r>
              <a:rPr sz="6400" b="1" i="0">
                <a:solidFill>
                  <a:srgbClr val="C89616"/>
                </a:solidFill>
                <a:latin typeface="Calibri"/>
              </a:rPr>
              <a:t>18</a:t>
            </a:r>
          </a:p>
        </p:txBody>
      </p:sp>
      <p:sp>
        <p:nvSpPr>
          <p:cNvPr id="11" name="TextBox 10"/>
          <p:cNvSpPr txBox="1"/>
          <p:nvPr/>
        </p:nvSpPr>
        <p:spPr>
          <a:xfrm>
            <a:off x="9509760" y="3703320"/>
            <a:ext cx="1920240" cy="457200"/>
          </a:xfrm>
          <a:prstGeom prst="rect">
            <a:avLst/>
          </a:prstGeom>
          <a:noFill/>
        </p:spPr>
        <p:txBody>
          <a:bodyPr wrap="square">
            <a:spAutoFit/>
          </a:bodyPr>
          <a:lstStyle/>
          <a:p>
            <a:pPr algn="ctr"/>
            <a:r>
              <a:rPr sz="1800" b="0" i="0">
                <a:solidFill>
                  <a:srgbClr val="FFFFFF"/>
                </a:solidFill>
                <a:latin typeface="Calibri"/>
              </a:rPr>
              <a:t>slides</a:t>
            </a:r>
          </a:p>
        </p:txBody>
      </p:sp>
      <p:sp>
        <p:nvSpPr>
          <p:cNvPr id="12" name="TextBox 11"/>
          <p:cNvSpPr txBox="1"/>
          <p:nvPr/>
        </p:nvSpPr>
        <p:spPr>
          <a:xfrm>
            <a:off x="9509760" y="4251960"/>
            <a:ext cx="1920240" cy="457200"/>
          </a:xfrm>
          <a:prstGeom prst="rect">
            <a:avLst/>
          </a:prstGeom>
          <a:noFill/>
        </p:spPr>
        <p:txBody>
          <a:bodyPr wrap="square">
            <a:spAutoFit/>
          </a:bodyPr>
          <a:lstStyle/>
          <a:p>
            <a:pPr algn="ctr"/>
            <a:r>
              <a:rPr sz="1500" b="0" i="0">
                <a:solidFill>
                  <a:srgbClr val="E8C85A"/>
                </a:solidFill>
                <a:latin typeface="Calibri"/>
              </a:rPr>
              <a:t>~20 min</a:t>
            </a: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3/18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What is ODeL?</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45775" cy="914400"/>
          </a:xfrm>
          <a:prstGeom prst="rect">
            <a:avLst/>
          </a:prstGeom>
          <a:noFill/>
        </p:spPr>
        <p:txBody>
          <a:bodyPr wrap="square">
            <a:spAutoFit/>
          </a:bodyPr>
          <a:lstStyle/>
          <a:p>
            <a:pPr algn="l"/>
            <a:r>
              <a:rPr sz="1700" b="0" i="0">
                <a:solidFill>
                  <a:srgbClr val="2D2D2D"/>
                </a:solidFill>
                <a:latin typeface="Calibri"/>
              </a:rPr>
              <a:t>Open, Distance and e-Learning (ODeL) is a formally recognised mode of higher education delivery in Uganda. It enables students who cannot attend face-to-face classes — due to distance, employment, or personal commitments — to earn accredited qualifications through digital platforms.</a:t>
            </a:r>
          </a:p>
        </p:txBody>
      </p:sp>
      <p:sp>
        <p:nvSpPr>
          <p:cNvPr id="9" name="Rectangle 8"/>
          <p:cNvSpPr/>
          <p:nvPr/>
        </p:nvSpPr>
        <p:spPr>
          <a:xfrm>
            <a:off x="822960" y="3017520"/>
            <a:ext cx="3337560" cy="301752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3291840"/>
            <a:ext cx="2743200" cy="457200"/>
          </a:xfrm>
          <a:prstGeom prst="rect">
            <a:avLst/>
          </a:prstGeom>
          <a:noFill/>
        </p:spPr>
        <p:txBody>
          <a:bodyPr wrap="square">
            <a:spAutoFit/>
          </a:bodyPr>
          <a:lstStyle/>
          <a:p>
            <a:pPr algn="l"/>
            <a:r>
              <a:rPr sz="1900" b="1" i="0">
                <a:solidFill>
                  <a:srgbClr val="C89616"/>
                </a:solidFill>
                <a:latin typeface="Calibri"/>
              </a:rPr>
              <a:t>NCHE Mandated</a:t>
            </a:r>
          </a:p>
        </p:txBody>
      </p:sp>
      <p:sp>
        <p:nvSpPr>
          <p:cNvPr id="11" name="Rectangle 10"/>
          <p:cNvSpPr/>
          <p:nvPr/>
        </p:nvSpPr>
        <p:spPr>
          <a:xfrm>
            <a:off x="1143000" y="3794760"/>
            <a:ext cx="109728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4023360"/>
            <a:ext cx="2697480" cy="1828800"/>
          </a:xfrm>
          <a:prstGeom prst="rect">
            <a:avLst/>
          </a:prstGeom>
          <a:noFill/>
        </p:spPr>
        <p:txBody>
          <a:bodyPr wrap="square">
            <a:spAutoFit/>
          </a:bodyPr>
          <a:lstStyle/>
          <a:p>
            <a:pPr algn="l"/>
            <a:r>
              <a:rPr sz="1500" b="0" i="0">
                <a:solidFill>
                  <a:srgbClr val="FFFFFF"/>
                </a:solidFill>
                <a:latin typeface="Calibri"/>
              </a:rPr>
              <a:t>The National Council for Higher
Education now requires all
universities to maintain
functional ODeL systems.</a:t>
            </a:r>
          </a:p>
        </p:txBody>
      </p:sp>
      <p:sp>
        <p:nvSpPr>
          <p:cNvPr id="13" name="Rectangle 12"/>
          <p:cNvSpPr/>
          <p:nvPr/>
        </p:nvSpPr>
        <p:spPr>
          <a:xfrm>
            <a:off x="4434840" y="3017520"/>
            <a:ext cx="3337560" cy="301752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3291840"/>
            <a:ext cx="2743200" cy="457200"/>
          </a:xfrm>
          <a:prstGeom prst="rect">
            <a:avLst/>
          </a:prstGeom>
          <a:noFill/>
        </p:spPr>
        <p:txBody>
          <a:bodyPr wrap="square">
            <a:spAutoFit/>
          </a:bodyPr>
          <a:lstStyle/>
          <a:p>
            <a:pPr algn="l"/>
            <a:r>
              <a:rPr sz="1900" b="1" i="0">
                <a:solidFill>
                  <a:srgbClr val="C89616"/>
                </a:solidFill>
                <a:latin typeface="Calibri"/>
              </a:rPr>
              <a:t>Post-COVID Priority</a:t>
            </a:r>
          </a:p>
        </p:txBody>
      </p:sp>
      <p:sp>
        <p:nvSpPr>
          <p:cNvPr id="15" name="Rectangle 14"/>
          <p:cNvSpPr/>
          <p:nvPr/>
        </p:nvSpPr>
        <p:spPr>
          <a:xfrm>
            <a:off x="4754880" y="3794760"/>
            <a:ext cx="109728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54880" y="4023360"/>
            <a:ext cx="2697480" cy="1828800"/>
          </a:xfrm>
          <a:prstGeom prst="rect">
            <a:avLst/>
          </a:prstGeom>
          <a:noFill/>
        </p:spPr>
        <p:txBody>
          <a:bodyPr wrap="square">
            <a:spAutoFit/>
          </a:bodyPr>
          <a:lstStyle/>
          <a:p>
            <a:pPr algn="l"/>
            <a:r>
              <a:rPr sz="1500" b="0" i="0">
                <a:solidFill>
                  <a:srgbClr val="FFFFFF"/>
                </a:solidFill>
                <a:latin typeface="Calibri"/>
              </a:rPr>
              <a:t>Government authorised and
accelerated ODeL adoption after
COVID-19 exposed critical gaps
in traditional delivery.</a:t>
            </a:r>
          </a:p>
        </p:txBody>
      </p:sp>
      <p:sp>
        <p:nvSpPr>
          <p:cNvPr id="17" name="Rectangle 16"/>
          <p:cNvSpPr/>
          <p:nvPr/>
        </p:nvSpPr>
        <p:spPr>
          <a:xfrm>
            <a:off x="8046720" y="3017520"/>
            <a:ext cx="3337560" cy="3017520"/>
          </a:xfrm>
          <a:prstGeom prst="rect">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66760" y="3291840"/>
            <a:ext cx="2743200" cy="457200"/>
          </a:xfrm>
          <a:prstGeom prst="rect">
            <a:avLst/>
          </a:prstGeom>
          <a:noFill/>
        </p:spPr>
        <p:txBody>
          <a:bodyPr wrap="square">
            <a:spAutoFit/>
          </a:bodyPr>
          <a:lstStyle/>
          <a:p>
            <a:pPr algn="l"/>
            <a:r>
              <a:rPr sz="1900" b="1" i="0">
                <a:solidFill>
                  <a:srgbClr val="C89616"/>
                </a:solidFill>
                <a:latin typeface="Calibri"/>
              </a:rPr>
              <a:t>Strategic Growth Tool</a:t>
            </a:r>
          </a:p>
        </p:txBody>
      </p:sp>
      <p:sp>
        <p:nvSpPr>
          <p:cNvPr id="19" name="Rectangle 18"/>
          <p:cNvSpPr/>
          <p:nvPr/>
        </p:nvSpPr>
        <p:spPr>
          <a:xfrm>
            <a:off x="8366760" y="3794760"/>
            <a:ext cx="109728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66760" y="4023360"/>
            <a:ext cx="2697480" cy="1828800"/>
          </a:xfrm>
          <a:prstGeom prst="rect">
            <a:avLst/>
          </a:prstGeom>
          <a:noFill/>
        </p:spPr>
        <p:txBody>
          <a:bodyPr wrap="square">
            <a:spAutoFit/>
          </a:bodyPr>
          <a:lstStyle/>
          <a:p>
            <a:pPr algn="l"/>
            <a:r>
              <a:rPr sz="1500" b="0" i="0">
                <a:solidFill>
                  <a:srgbClr val="FFFFFF"/>
                </a:solidFill>
                <a:latin typeface="Calibri"/>
              </a:rPr>
              <a:t>ODeL unlocks new student
populations — working
professionals, rural communities
and cross-border learners.</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4/18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ODeL Across Uganda — Where Peers Stand</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45775" cy="548640"/>
          </a:xfrm>
          <a:prstGeom prst="rect">
            <a:avLst/>
          </a:prstGeom>
          <a:noFill/>
        </p:spPr>
        <p:txBody>
          <a:bodyPr wrap="square">
            <a:spAutoFit/>
          </a:bodyPr>
          <a:lstStyle/>
          <a:p>
            <a:pPr algn="l"/>
            <a:r>
              <a:rPr sz="1700" b="0" i="1">
                <a:solidFill>
                  <a:srgbClr val="888888"/>
                </a:solidFill>
                <a:latin typeface="Calibri"/>
              </a:rPr>
              <a:t>Uganda’s leading universities are investing heavily in ODeL. MRU risks falling behind.</a:t>
            </a:r>
          </a:p>
        </p:txBody>
      </p:sp>
      <p:sp>
        <p:nvSpPr>
          <p:cNvPr id="9" name="Rectangle 8"/>
          <p:cNvSpPr/>
          <p:nvPr/>
        </p:nvSpPr>
        <p:spPr>
          <a:xfrm>
            <a:off x="502920" y="2423160"/>
            <a:ext cx="2148840" cy="3657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2606040"/>
            <a:ext cx="1874519" cy="347472"/>
          </a:xfrm>
          <a:prstGeom prst="rect">
            <a:avLst/>
          </a:prstGeom>
          <a:solidFill>
            <a:srgbClr val="1E8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606040"/>
            <a:ext cx="1874519" cy="347472"/>
          </a:xfrm>
          <a:prstGeom prst="rect">
            <a:avLst/>
          </a:prstGeom>
          <a:noFill/>
        </p:spPr>
        <p:txBody>
          <a:bodyPr wrap="square">
            <a:spAutoFit/>
          </a:bodyPr>
          <a:lstStyle/>
          <a:p>
            <a:pPr algn="ctr"/>
            <a:r>
              <a:rPr sz="1100" b="1" i="0">
                <a:solidFill>
                  <a:srgbClr val="FFFFFF"/>
                </a:solidFill>
                <a:latin typeface="Calibri"/>
              </a:rPr>
              <a:t>MATURE</a:t>
            </a:r>
          </a:p>
        </p:txBody>
      </p:sp>
      <p:sp>
        <p:nvSpPr>
          <p:cNvPr id="12" name="TextBox 11"/>
          <p:cNvSpPr txBox="1"/>
          <p:nvPr/>
        </p:nvSpPr>
        <p:spPr>
          <a:xfrm>
            <a:off x="640080" y="3108960"/>
            <a:ext cx="1874519" cy="594360"/>
          </a:xfrm>
          <a:prstGeom prst="rect">
            <a:avLst/>
          </a:prstGeom>
          <a:noFill/>
        </p:spPr>
        <p:txBody>
          <a:bodyPr wrap="square">
            <a:spAutoFit/>
          </a:bodyPr>
          <a:lstStyle/>
          <a:p>
            <a:pPr algn="l"/>
            <a:r>
              <a:rPr sz="1300" b="1" i="0">
                <a:solidFill>
                  <a:srgbClr val="0A1F44"/>
                </a:solidFill>
                <a:latin typeface="Calibri"/>
              </a:rPr>
              <a:t>Makerere University</a:t>
            </a:r>
          </a:p>
        </p:txBody>
      </p:sp>
      <p:sp>
        <p:nvSpPr>
          <p:cNvPr id="13" name="TextBox 12"/>
          <p:cNvSpPr txBox="1"/>
          <p:nvPr/>
        </p:nvSpPr>
        <p:spPr>
          <a:xfrm>
            <a:off x="640080" y="3794760"/>
            <a:ext cx="1874519" cy="2011680"/>
          </a:xfrm>
          <a:prstGeom prst="rect">
            <a:avLst/>
          </a:prstGeom>
          <a:noFill/>
        </p:spPr>
        <p:txBody>
          <a:bodyPr wrap="square">
            <a:spAutoFit/>
          </a:bodyPr>
          <a:lstStyle/>
          <a:p>
            <a:pPr algn="l"/>
            <a:r>
              <a:rPr sz="1200" b="0" i="0">
                <a:solidFill>
                  <a:srgbClr val="2D2D2D"/>
                </a:solidFill>
                <a:latin typeface="Calibri"/>
              </a:rPr>
              <a:t>IODeL institute &amp; MUELE
platform. Full ODeL policy
framework in place.</a:t>
            </a:r>
          </a:p>
        </p:txBody>
      </p:sp>
      <p:sp>
        <p:nvSpPr>
          <p:cNvPr id="14" name="Rectangle 13"/>
          <p:cNvSpPr/>
          <p:nvPr/>
        </p:nvSpPr>
        <p:spPr>
          <a:xfrm>
            <a:off x="2788920" y="2423160"/>
            <a:ext cx="2148840" cy="3657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926080" y="2606040"/>
            <a:ext cx="1874519" cy="347472"/>
          </a:xfrm>
          <a:prstGeom prst="rect">
            <a:avLst/>
          </a:prstGeom>
          <a:solidFill>
            <a:srgbClr val="1E8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26080" y="2606040"/>
            <a:ext cx="1874519" cy="347472"/>
          </a:xfrm>
          <a:prstGeom prst="rect">
            <a:avLst/>
          </a:prstGeom>
          <a:noFill/>
        </p:spPr>
        <p:txBody>
          <a:bodyPr wrap="square">
            <a:spAutoFit/>
          </a:bodyPr>
          <a:lstStyle/>
          <a:p>
            <a:pPr algn="ctr"/>
            <a:r>
              <a:rPr sz="1100" b="1" i="0">
                <a:solidFill>
                  <a:srgbClr val="FFFFFF"/>
                </a:solidFill>
                <a:latin typeface="Calibri"/>
              </a:rPr>
              <a:t>ESTABLISHED</a:t>
            </a:r>
          </a:p>
        </p:txBody>
      </p:sp>
      <p:sp>
        <p:nvSpPr>
          <p:cNvPr id="17" name="TextBox 16"/>
          <p:cNvSpPr txBox="1"/>
          <p:nvPr/>
        </p:nvSpPr>
        <p:spPr>
          <a:xfrm>
            <a:off x="2926080" y="3108960"/>
            <a:ext cx="1874519" cy="594360"/>
          </a:xfrm>
          <a:prstGeom prst="rect">
            <a:avLst/>
          </a:prstGeom>
          <a:noFill/>
        </p:spPr>
        <p:txBody>
          <a:bodyPr wrap="square">
            <a:spAutoFit/>
          </a:bodyPr>
          <a:lstStyle/>
          <a:p>
            <a:pPr algn="l"/>
            <a:r>
              <a:rPr sz="1300" b="1" i="0">
                <a:solidFill>
                  <a:srgbClr val="0A1F44"/>
                </a:solidFill>
                <a:latin typeface="Calibri"/>
              </a:rPr>
              <a:t>Kyambogo University</a:t>
            </a:r>
          </a:p>
        </p:txBody>
      </p:sp>
      <p:sp>
        <p:nvSpPr>
          <p:cNvPr id="18" name="TextBox 17"/>
          <p:cNvSpPr txBox="1"/>
          <p:nvPr/>
        </p:nvSpPr>
        <p:spPr>
          <a:xfrm>
            <a:off x="2926080" y="3794760"/>
            <a:ext cx="1874519" cy="2011680"/>
          </a:xfrm>
          <a:prstGeom prst="rect">
            <a:avLst/>
          </a:prstGeom>
          <a:noFill/>
        </p:spPr>
        <p:txBody>
          <a:bodyPr wrap="square">
            <a:spAutoFit/>
          </a:bodyPr>
          <a:lstStyle/>
          <a:p>
            <a:pPr algn="l"/>
            <a:r>
              <a:rPr sz="1200" b="0" i="0">
                <a:solidFill>
                  <a:srgbClr val="2D2D2D"/>
                </a:solidFill>
                <a:latin typeface="Calibri"/>
              </a:rPr>
              <a:t>ODeL Centre est. 2007.
African Virtual University
partnership. Blended learning.</a:t>
            </a:r>
          </a:p>
        </p:txBody>
      </p:sp>
      <p:sp>
        <p:nvSpPr>
          <p:cNvPr id="19" name="Rectangle 18"/>
          <p:cNvSpPr/>
          <p:nvPr/>
        </p:nvSpPr>
        <p:spPr>
          <a:xfrm>
            <a:off x="5074920" y="2423160"/>
            <a:ext cx="2148840" cy="3657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0" y="2606040"/>
            <a:ext cx="1874519" cy="347472"/>
          </a:xfrm>
          <a:prstGeom prst="rect">
            <a:avLst/>
          </a:prstGeom>
          <a:solidFill>
            <a:srgbClr val="D4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2606040"/>
            <a:ext cx="1874519" cy="347472"/>
          </a:xfrm>
          <a:prstGeom prst="rect">
            <a:avLst/>
          </a:prstGeom>
          <a:noFill/>
        </p:spPr>
        <p:txBody>
          <a:bodyPr wrap="square">
            <a:spAutoFit/>
          </a:bodyPr>
          <a:lstStyle/>
          <a:p>
            <a:pPr algn="ctr"/>
            <a:r>
              <a:rPr sz="1100" b="1" i="0">
                <a:solidFill>
                  <a:srgbClr val="FFFFFF"/>
                </a:solidFill>
                <a:latin typeface="Calibri"/>
              </a:rPr>
              <a:t>LAUNCHING</a:t>
            </a:r>
          </a:p>
        </p:txBody>
      </p:sp>
      <p:sp>
        <p:nvSpPr>
          <p:cNvPr id="22" name="TextBox 21"/>
          <p:cNvSpPr txBox="1"/>
          <p:nvPr/>
        </p:nvSpPr>
        <p:spPr>
          <a:xfrm>
            <a:off x="5212080" y="3108960"/>
            <a:ext cx="1874519" cy="594360"/>
          </a:xfrm>
          <a:prstGeom prst="rect">
            <a:avLst/>
          </a:prstGeom>
          <a:noFill/>
        </p:spPr>
        <p:txBody>
          <a:bodyPr wrap="square">
            <a:spAutoFit/>
          </a:bodyPr>
          <a:lstStyle/>
          <a:p>
            <a:pPr algn="l"/>
            <a:r>
              <a:rPr sz="1300" b="1" i="0">
                <a:solidFill>
                  <a:srgbClr val="0A1F44"/>
                </a:solidFill>
                <a:latin typeface="Calibri"/>
              </a:rPr>
              <a:t>Gulu University</a:t>
            </a:r>
          </a:p>
        </p:txBody>
      </p:sp>
      <p:sp>
        <p:nvSpPr>
          <p:cNvPr id="23" name="TextBox 22"/>
          <p:cNvSpPr txBox="1"/>
          <p:nvPr/>
        </p:nvSpPr>
        <p:spPr>
          <a:xfrm>
            <a:off x="5212080" y="3794760"/>
            <a:ext cx="1874519" cy="2011680"/>
          </a:xfrm>
          <a:prstGeom prst="rect">
            <a:avLst/>
          </a:prstGeom>
          <a:noFill/>
        </p:spPr>
        <p:txBody>
          <a:bodyPr wrap="square">
            <a:spAutoFit/>
          </a:bodyPr>
          <a:lstStyle/>
          <a:p>
            <a:pPr algn="l"/>
            <a:r>
              <a:rPr sz="1200" b="0" i="0">
                <a:solidFill>
                  <a:srgbClr val="2D2D2D"/>
                </a:solidFill>
                <a:latin typeface="Calibri"/>
              </a:rPr>
              <a:t>ODELL Dept launched 2025.
Pilot: B.Ed (Primary).
Target: 11,000+ students.</a:t>
            </a:r>
          </a:p>
        </p:txBody>
      </p:sp>
      <p:sp>
        <p:nvSpPr>
          <p:cNvPr id="24" name="Rectangle 23"/>
          <p:cNvSpPr/>
          <p:nvPr/>
        </p:nvSpPr>
        <p:spPr>
          <a:xfrm>
            <a:off x="7360920" y="2423160"/>
            <a:ext cx="2148840" cy="36576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98080" y="2606040"/>
            <a:ext cx="1874519" cy="347472"/>
          </a:xfrm>
          <a:prstGeom prst="rect">
            <a:avLst/>
          </a:prstGeom>
          <a:solidFill>
            <a:srgbClr val="1E8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0" y="2606040"/>
            <a:ext cx="1874519" cy="347472"/>
          </a:xfrm>
          <a:prstGeom prst="rect">
            <a:avLst/>
          </a:prstGeom>
          <a:noFill/>
        </p:spPr>
        <p:txBody>
          <a:bodyPr wrap="square">
            <a:spAutoFit/>
          </a:bodyPr>
          <a:lstStyle/>
          <a:p>
            <a:pPr algn="ctr"/>
            <a:r>
              <a:rPr sz="1100" b="1" i="0">
                <a:solidFill>
                  <a:srgbClr val="FFFFFF"/>
                </a:solidFill>
                <a:latin typeface="Calibri"/>
              </a:rPr>
              <a:t>OPERATIONAL</a:t>
            </a:r>
          </a:p>
        </p:txBody>
      </p:sp>
      <p:sp>
        <p:nvSpPr>
          <p:cNvPr id="27" name="TextBox 26"/>
          <p:cNvSpPr txBox="1"/>
          <p:nvPr/>
        </p:nvSpPr>
        <p:spPr>
          <a:xfrm>
            <a:off x="7498080" y="3108960"/>
            <a:ext cx="1874519" cy="594360"/>
          </a:xfrm>
          <a:prstGeom prst="rect">
            <a:avLst/>
          </a:prstGeom>
          <a:noFill/>
        </p:spPr>
        <p:txBody>
          <a:bodyPr wrap="square">
            <a:spAutoFit/>
          </a:bodyPr>
          <a:lstStyle/>
          <a:p>
            <a:pPr algn="l"/>
            <a:r>
              <a:rPr sz="1300" b="1" i="0">
                <a:solidFill>
                  <a:srgbClr val="0A1F44"/>
                </a:solidFill>
                <a:latin typeface="Calibri"/>
              </a:rPr>
              <a:t>KIU</a:t>
            </a:r>
          </a:p>
        </p:txBody>
      </p:sp>
      <p:sp>
        <p:nvSpPr>
          <p:cNvPr id="28" name="TextBox 27"/>
          <p:cNvSpPr txBox="1"/>
          <p:nvPr/>
        </p:nvSpPr>
        <p:spPr>
          <a:xfrm>
            <a:off x="7498080" y="3794760"/>
            <a:ext cx="1874519" cy="2011680"/>
          </a:xfrm>
          <a:prstGeom prst="rect">
            <a:avLst/>
          </a:prstGeom>
          <a:noFill/>
        </p:spPr>
        <p:txBody>
          <a:bodyPr wrap="square">
            <a:spAutoFit/>
          </a:bodyPr>
          <a:lstStyle/>
          <a:p>
            <a:pPr algn="l"/>
            <a:r>
              <a:rPr sz="1200" b="0" i="0">
                <a:solidFill>
                  <a:srgbClr val="2D2D2D"/>
                </a:solidFill>
                <a:latin typeface="Calibri"/>
              </a:rPr>
              <a:t>CEODL est. 2011. Diplomas,
Bachelors &amp; Masters via
distance learning.</a:t>
            </a:r>
          </a:p>
        </p:txBody>
      </p:sp>
      <p:sp>
        <p:nvSpPr>
          <p:cNvPr id="29" name="Rectangle 28"/>
          <p:cNvSpPr/>
          <p:nvPr/>
        </p:nvSpPr>
        <p:spPr>
          <a:xfrm>
            <a:off x="9646920" y="2423160"/>
            <a:ext cx="2148840" cy="3657600"/>
          </a:xfrm>
          <a:prstGeom prst="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784080" y="2606040"/>
            <a:ext cx="1874519" cy="347472"/>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784080" y="2606040"/>
            <a:ext cx="1874519" cy="347472"/>
          </a:xfrm>
          <a:prstGeom prst="rect">
            <a:avLst/>
          </a:prstGeom>
          <a:noFill/>
        </p:spPr>
        <p:txBody>
          <a:bodyPr wrap="square">
            <a:spAutoFit/>
          </a:bodyPr>
          <a:lstStyle/>
          <a:p>
            <a:pPr algn="ctr"/>
            <a:r>
              <a:rPr sz="1100" b="1" i="0">
                <a:solidFill>
                  <a:srgbClr val="FFFFFF"/>
                </a:solidFill>
                <a:latin typeface="Calibri"/>
              </a:rPr>
              <a:t>OFFLINE</a:t>
            </a:r>
          </a:p>
        </p:txBody>
      </p:sp>
      <p:sp>
        <p:nvSpPr>
          <p:cNvPr id="32" name="TextBox 31"/>
          <p:cNvSpPr txBox="1"/>
          <p:nvPr/>
        </p:nvSpPr>
        <p:spPr>
          <a:xfrm>
            <a:off x="9784080" y="3108960"/>
            <a:ext cx="1874519" cy="594360"/>
          </a:xfrm>
          <a:prstGeom prst="rect">
            <a:avLst/>
          </a:prstGeom>
          <a:noFill/>
        </p:spPr>
        <p:txBody>
          <a:bodyPr wrap="square">
            <a:spAutoFit/>
          </a:bodyPr>
          <a:lstStyle/>
          <a:p>
            <a:pPr algn="l"/>
            <a:r>
              <a:rPr sz="1300" b="1" i="0">
                <a:solidFill>
                  <a:srgbClr val="0A1F44"/>
                </a:solidFill>
                <a:latin typeface="Calibri"/>
              </a:rPr>
              <a:t>Muteesa I Royal (MRU)</a:t>
            </a:r>
          </a:p>
        </p:txBody>
      </p:sp>
      <p:sp>
        <p:nvSpPr>
          <p:cNvPr id="33" name="TextBox 32"/>
          <p:cNvSpPr txBox="1"/>
          <p:nvPr/>
        </p:nvSpPr>
        <p:spPr>
          <a:xfrm>
            <a:off x="9784080" y="3794760"/>
            <a:ext cx="1874519" cy="2011680"/>
          </a:xfrm>
          <a:prstGeom prst="rect">
            <a:avLst/>
          </a:prstGeom>
          <a:noFill/>
        </p:spPr>
        <p:txBody>
          <a:bodyPr wrap="square">
            <a:spAutoFit/>
          </a:bodyPr>
          <a:lstStyle/>
          <a:p>
            <a:pPr algn="l"/>
            <a:r>
              <a:rPr sz="1200" b="0" i="0">
                <a:solidFill>
                  <a:srgbClr val="2D2D2D"/>
                </a:solidFill>
                <a:latin typeface="Calibri"/>
              </a:rPr>
              <a:t>Server DOWN for 2 years.
No functional ODeL system.
No distance learning.</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63500" cy="201168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2468880"/>
            <a:ext cx="9144000" cy="1097280"/>
          </a:xfrm>
          <a:prstGeom prst="rect">
            <a:avLst/>
          </a:prstGeom>
          <a:noFill/>
        </p:spPr>
        <p:txBody>
          <a:bodyPr wrap="square">
            <a:spAutoFit/>
          </a:bodyPr>
          <a:lstStyle/>
          <a:p>
            <a:pPr algn="l"/>
            <a:r>
              <a:rPr sz="4000" b="1" i="0">
                <a:solidFill>
                  <a:srgbClr val="FFFFFF"/>
                </a:solidFill>
                <a:latin typeface="Calibri Light"/>
              </a:rPr>
              <a:t>The Current Crisis at MRU</a:t>
            </a:r>
          </a:p>
        </p:txBody>
      </p:sp>
      <p:sp>
        <p:nvSpPr>
          <p:cNvPr id="4" name="TextBox 3"/>
          <p:cNvSpPr txBox="1"/>
          <p:nvPr/>
        </p:nvSpPr>
        <p:spPr>
          <a:xfrm>
            <a:off x="1280160" y="3749039"/>
            <a:ext cx="9144000" cy="731520"/>
          </a:xfrm>
          <a:prstGeom prst="rect">
            <a:avLst/>
          </a:prstGeom>
          <a:noFill/>
        </p:spPr>
        <p:txBody>
          <a:bodyPr wrap="square">
            <a:spAutoFit/>
          </a:bodyPr>
          <a:lstStyle/>
          <a:p>
            <a:pPr algn="l"/>
            <a:r>
              <a:rPr sz="2000" b="0" i="1">
                <a:solidFill>
                  <a:srgbClr val="E8C85A"/>
                </a:solidFill>
                <a:latin typeface="Calibri"/>
              </a:rPr>
              <a:t>Understanding where we stand — and what it’s costing us</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5/18</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6/18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C0392B"/>
                </a:solidFill>
                <a:latin typeface="Calibri Light"/>
              </a:rPr>
              <a:t>Where MRU Stands Today</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960" y="1618488"/>
            <a:ext cx="127000" cy="127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1508760"/>
            <a:ext cx="3200400" cy="365760"/>
          </a:xfrm>
          <a:prstGeom prst="rect">
            <a:avLst/>
          </a:prstGeom>
          <a:noFill/>
        </p:spPr>
        <p:txBody>
          <a:bodyPr wrap="square">
            <a:spAutoFit/>
          </a:bodyPr>
          <a:lstStyle/>
          <a:p>
            <a:pPr algn="l"/>
            <a:r>
              <a:rPr sz="1600" b="1" i="0">
                <a:solidFill>
                  <a:srgbClr val="C0392B"/>
                </a:solidFill>
                <a:latin typeface="Calibri"/>
              </a:rPr>
              <a:t>Complete Server Failure</a:t>
            </a:r>
          </a:p>
        </p:txBody>
      </p:sp>
      <p:sp>
        <p:nvSpPr>
          <p:cNvPr id="10" name="TextBox 9"/>
          <p:cNvSpPr txBox="1"/>
          <p:nvPr/>
        </p:nvSpPr>
        <p:spPr>
          <a:xfrm>
            <a:off x="1143000" y="1856232"/>
            <a:ext cx="10088575" cy="457200"/>
          </a:xfrm>
          <a:prstGeom prst="rect">
            <a:avLst/>
          </a:prstGeom>
          <a:noFill/>
        </p:spPr>
        <p:txBody>
          <a:bodyPr wrap="square">
            <a:spAutoFit/>
          </a:bodyPr>
          <a:lstStyle/>
          <a:p>
            <a:pPr algn="l"/>
            <a:r>
              <a:rPr sz="1400" b="0" i="0">
                <a:solidFill>
                  <a:srgbClr val="2D2D2D"/>
                </a:solidFill>
                <a:latin typeface="Calibri"/>
              </a:rPr>
              <a:t>MRU’s ODeL server has been non-functional for over two years. No online courses, no digital assessments, no distance learning of any kind.</a:t>
            </a:r>
          </a:p>
        </p:txBody>
      </p:sp>
      <p:sp>
        <p:nvSpPr>
          <p:cNvPr id="11" name="Oval 10"/>
          <p:cNvSpPr/>
          <p:nvPr/>
        </p:nvSpPr>
        <p:spPr>
          <a:xfrm>
            <a:off x="822960" y="2532888"/>
            <a:ext cx="127000" cy="127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3000" y="2423160"/>
            <a:ext cx="3200400" cy="365760"/>
          </a:xfrm>
          <a:prstGeom prst="rect">
            <a:avLst/>
          </a:prstGeom>
          <a:noFill/>
        </p:spPr>
        <p:txBody>
          <a:bodyPr wrap="square">
            <a:spAutoFit/>
          </a:bodyPr>
          <a:lstStyle/>
          <a:p>
            <a:pPr algn="l"/>
            <a:r>
              <a:rPr sz="1600" b="1" i="0">
                <a:solidFill>
                  <a:srgbClr val="C0392B"/>
                </a:solidFill>
                <a:latin typeface="Calibri"/>
              </a:rPr>
              <a:t>NCHE Non-Compliance Risk</a:t>
            </a:r>
          </a:p>
        </p:txBody>
      </p:sp>
      <p:sp>
        <p:nvSpPr>
          <p:cNvPr id="13" name="TextBox 12"/>
          <p:cNvSpPr txBox="1"/>
          <p:nvPr/>
        </p:nvSpPr>
        <p:spPr>
          <a:xfrm>
            <a:off x="1143000" y="2770632"/>
            <a:ext cx="10088575" cy="457200"/>
          </a:xfrm>
          <a:prstGeom prst="rect">
            <a:avLst/>
          </a:prstGeom>
          <a:noFill/>
        </p:spPr>
        <p:txBody>
          <a:bodyPr wrap="square">
            <a:spAutoFit/>
          </a:bodyPr>
          <a:lstStyle/>
          <a:p>
            <a:pPr algn="l"/>
            <a:r>
              <a:rPr sz="1400" b="0" i="0">
                <a:solidFill>
                  <a:srgbClr val="2D2D2D"/>
                </a:solidFill>
                <a:latin typeface="Calibri"/>
              </a:rPr>
              <a:t>The National Council for Higher Education requires every university to maintain a functional ODeL system. Our current state puts MRU at direct regulatory risk.</a:t>
            </a:r>
          </a:p>
        </p:txBody>
      </p:sp>
      <p:sp>
        <p:nvSpPr>
          <p:cNvPr id="14" name="Oval 13"/>
          <p:cNvSpPr/>
          <p:nvPr/>
        </p:nvSpPr>
        <p:spPr>
          <a:xfrm>
            <a:off x="822960" y="3447288"/>
            <a:ext cx="127000" cy="127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3000" y="3337560"/>
            <a:ext cx="3200400" cy="365760"/>
          </a:xfrm>
          <a:prstGeom prst="rect">
            <a:avLst/>
          </a:prstGeom>
          <a:noFill/>
        </p:spPr>
        <p:txBody>
          <a:bodyPr wrap="square">
            <a:spAutoFit/>
          </a:bodyPr>
          <a:lstStyle/>
          <a:p>
            <a:pPr algn="l"/>
            <a:r>
              <a:rPr sz="1600" b="1" i="0">
                <a:solidFill>
                  <a:srgbClr val="C0392B"/>
                </a:solidFill>
                <a:latin typeface="Calibri"/>
              </a:rPr>
              <a:t>Students Turning Elsewhere</a:t>
            </a:r>
          </a:p>
        </p:txBody>
      </p:sp>
      <p:sp>
        <p:nvSpPr>
          <p:cNvPr id="16" name="TextBox 15"/>
          <p:cNvSpPr txBox="1"/>
          <p:nvPr/>
        </p:nvSpPr>
        <p:spPr>
          <a:xfrm>
            <a:off x="1143000" y="3685032"/>
            <a:ext cx="10088575" cy="457200"/>
          </a:xfrm>
          <a:prstGeom prst="rect">
            <a:avLst/>
          </a:prstGeom>
          <a:noFill/>
        </p:spPr>
        <p:txBody>
          <a:bodyPr wrap="square">
            <a:spAutoFit/>
          </a:bodyPr>
          <a:lstStyle/>
          <a:p>
            <a:pPr algn="l"/>
            <a:r>
              <a:rPr sz="1400" b="0" i="0">
                <a:solidFill>
                  <a:srgbClr val="2D2D2D"/>
                </a:solidFill>
                <a:latin typeface="Calibri"/>
              </a:rPr>
              <a:t>Learners who need flexible, distance-based study are enrolling at competing institutions that offer online programmes.</a:t>
            </a:r>
          </a:p>
        </p:txBody>
      </p:sp>
      <p:sp>
        <p:nvSpPr>
          <p:cNvPr id="17" name="Oval 16"/>
          <p:cNvSpPr/>
          <p:nvPr/>
        </p:nvSpPr>
        <p:spPr>
          <a:xfrm>
            <a:off x="822960" y="4361688"/>
            <a:ext cx="127000" cy="127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3000" y="4251960"/>
            <a:ext cx="3200400" cy="365760"/>
          </a:xfrm>
          <a:prstGeom prst="rect">
            <a:avLst/>
          </a:prstGeom>
          <a:noFill/>
        </p:spPr>
        <p:txBody>
          <a:bodyPr wrap="square">
            <a:spAutoFit/>
          </a:bodyPr>
          <a:lstStyle/>
          <a:p>
            <a:pPr algn="l"/>
            <a:r>
              <a:rPr sz="1600" b="1" i="0">
                <a:solidFill>
                  <a:srgbClr val="C0392B"/>
                </a:solidFill>
                <a:latin typeface="Calibri"/>
              </a:rPr>
              <a:t>Staff Frustration &amp; Low Morale</a:t>
            </a:r>
          </a:p>
        </p:txBody>
      </p:sp>
      <p:sp>
        <p:nvSpPr>
          <p:cNvPr id="19" name="TextBox 18"/>
          <p:cNvSpPr txBox="1"/>
          <p:nvPr/>
        </p:nvSpPr>
        <p:spPr>
          <a:xfrm>
            <a:off x="1143000" y="4599432"/>
            <a:ext cx="10088575" cy="457200"/>
          </a:xfrm>
          <a:prstGeom prst="rect">
            <a:avLst/>
          </a:prstGeom>
          <a:noFill/>
        </p:spPr>
        <p:txBody>
          <a:bodyPr wrap="square">
            <a:spAutoFit/>
          </a:bodyPr>
          <a:lstStyle/>
          <a:p>
            <a:pPr algn="l"/>
            <a:r>
              <a:rPr sz="1400" b="0" i="0">
                <a:solidFill>
                  <a:srgbClr val="2D2D2D"/>
                </a:solidFill>
                <a:latin typeface="Calibri"/>
              </a:rPr>
              <a:t>Faculty have no digital platform for course delivery. Administrative staff lack tools for student management and reporting.</a:t>
            </a:r>
          </a:p>
        </p:txBody>
      </p:sp>
      <p:sp>
        <p:nvSpPr>
          <p:cNvPr id="20" name="Oval 19"/>
          <p:cNvSpPr/>
          <p:nvPr/>
        </p:nvSpPr>
        <p:spPr>
          <a:xfrm>
            <a:off x="822960" y="5276088"/>
            <a:ext cx="127000" cy="12700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 y="5166360"/>
            <a:ext cx="3200400" cy="365760"/>
          </a:xfrm>
          <a:prstGeom prst="rect">
            <a:avLst/>
          </a:prstGeom>
          <a:noFill/>
        </p:spPr>
        <p:txBody>
          <a:bodyPr wrap="square">
            <a:spAutoFit/>
          </a:bodyPr>
          <a:lstStyle/>
          <a:p>
            <a:pPr algn="l"/>
            <a:r>
              <a:rPr sz="1600" b="1" i="0">
                <a:solidFill>
                  <a:srgbClr val="C0392B"/>
                </a:solidFill>
                <a:latin typeface="Calibri"/>
              </a:rPr>
              <a:t>Reputational Damage</a:t>
            </a:r>
          </a:p>
        </p:txBody>
      </p:sp>
      <p:sp>
        <p:nvSpPr>
          <p:cNvPr id="22" name="TextBox 21"/>
          <p:cNvSpPr txBox="1"/>
          <p:nvPr/>
        </p:nvSpPr>
        <p:spPr>
          <a:xfrm>
            <a:off x="1143000" y="5513832"/>
            <a:ext cx="10088575" cy="457200"/>
          </a:xfrm>
          <a:prstGeom prst="rect">
            <a:avLst/>
          </a:prstGeom>
          <a:noFill/>
        </p:spPr>
        <p:txBody>
          <a:bodyPr wrap="square">
            <a:spAutoFit/>
          </a:bodyPr>
          <a:lstStyle/>
          <a:p>
            <a:pPr algn="l"/>
            <a:r>
              <a:rPr sz="1400" b="0" i="0">
                <a:solidFill>
                  <a:srgbClr val="2D2D2D"/>
                </a:solidFill>
                <a:latin typeface="Calibri"/>
              </a:rPr>
              <a:t>While peer universities digitise rapidly, MRU’s inability to offer ODeL undermines our standing among prospective students and partners.</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7/18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What We Lose Every Semester Without ODeL</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600200" y="2011680"/>
            <a:ext cx="731520" cy="73152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2121408"/>
            <a:ext cx="640080" cy="502920"/>
          </a:xfrm>
          <a:prstGeom prst="rect">
            <a:avLst/>
          </a:prstGeom>
          <a:noFill/>
        </p:spPr>
        <p:txBody>
          <a:bodyPr wrap="square">
            <a:spAutoFit/>
          </a:bodyPr>
          <a:lstStyle/>
          <a:p>
            <a:pPr algn="ctr"/>
            <a:r>
              <a:rPr sz="2200" b="1" i="0">
                <a:solidFill>
                  <a:srgbClr val="FFFFFF"/>
                </a:solidFill>
                <a:latin typeface="Calibri"/>
              </a:rPr>
              <a:t>UGX</a:t>
            </a:r>
          </a:p>
        </p:txBody>
      </p:sp>
      <p:sp>
        <p:nvSpPr>
          <p:cNvPr id="10" name="TextBox 9"/>
          <p:cNvSpPr txBox="1"/>
          <p:nvPr/>
        </p:nvSpPr>
        <p:spPr>
          <a:xfrm>
            <a:off x="822960" y="3017520"/>
            <a:ext cx="2468880" cy="457200"/>
          </a:xfrm>
          <a:prstGeom prst="rect">
            <a:avLst/>
          </a:prstGeom>
          <a:noFill/>
        </p:spPr>
        <p:txBody>
          <a:bodyPr wrap="square">
            <a:spAutoFit/>
          </a:bodyPr>
          <a:lstStyle/>
          <a:p>
            <a:pPr algn="ctr"/>
            <a:r>
              <a:rPr sz="1900" b="1" i="0">
                <a:solidFill>
                  <a:srgbClr val="0A1F44"/>
                </a:solidFill>
                <a:latin typeface="Calibri"/>
              </a:rPr>
              <a:t>Lost Revenue</a:t>
            </a:r>
          </a:p>
        </p:txBody>
      </p:sp>
      <p:sp>
        <p:nvSpPr>
          <p:cNvPr id="11" name="TextBox 10"/>
          <p:cNvSpPr txBox="1"/>
          <p:nvPr/>
        </p:nvSpPr>
        <p:spPr>
          <a:xfrm>
            <a:off x="822960" y="3520440"/>
            <a:ext cx="2468880" cy="1371600"/>
          </a:xfrm>
          <a:prstGeom prst="rect">
            <a:avLst/>
          </a:prstGeom>
          <a:noFill/>
        </p:spPr>
        <p:txBody>
          <a:bodyPr wrap="square">
            <a:spAutoFit/>
          </a:bodyPr>
          <a:lstStyle/>
          <a:p>
            <a:pPr algn="ctr"/>
            <a:r>
              <a:rPr sz="1400" b="0" i="0">
                <a:solidFill>
                  <a:srgbClr val="888888"/>
                </a:solidFill>
                <a:latin typeface="Calibri"/>
              </a:rPr>
              <a:t>Distance-learning students
enrol at competing
institutions instead.</a:t>
            </a:r>
          </a:p>
        </p:txBody>
      </p:sp>
      <p:sp>
        <p:nvSpPr>
          <p:cNvPr id="12" name="Oval 11"/>
          <p:cNvSpPr/>
          <p:nvPr/>
        </p:nvSpPr>
        <p:spPr>
          <a:xfrm>
            <a:off x="4297680" y="2011680"/>
            <a:ext cx="731520" cy="73152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43400" y="2121408"/>
            <a:ext cx="640080" cy="502920"/>
          </a:xfrm>
          <a:prstGeom prst="rect">
            <a:avLst/>
          </a:prstGeom>
          <a:noFill/>
        </p:spPr>
        <p:txBody>
          <a:bodyPr wrap="square">
            <a:spAutoFit/>
          </a:bodyPr>
          <a:lstStyle/>
          <a:p>
            <a:pPr algn="ctr"/>
            <a:r>
              <a:rPr sz="2200" b="1" i="0">
                <a:solidFill>
                  <a:srgbClr val="FFFFFF"/>
                </a:solidFill>
                <a:latin typeface="Calibri"/>
              </a:rPr>
              <a:t>!</a:t>
            </a:r>
          </a:p>
        </p:txBody>
      </p:sp>
      <p:sp>
        <p:nvSpPr>
          <p:cNvPr id="14" name="TextBox 13"/>
          <p:cNvSpPr txBox="1"/>
          <p:nvPr/>
        </p:nvSpPr>
        <p:spPr>
          <a:xfrm>
            <a:off x="3520440" y="3017520"/>
            <a:ext cx="2468880" cy="457200"/>
          </a:xfrm>
          <a:prstGeom prst="rect">
            <a:avLst/>
          </a:prstGeom>
          <a:noFill/>
        </p:spPr>
        <p:txBody>
          <a:bodyPr wrap="square">
            <a:spAutoFit/>
          </a:bodyPr>
          <a:lstStyle/>
          <a:p>
            <a:pPr algn="ctr"/>
            <a:r>
              <a:rPr sz="1900" b="1" i="0">
                <a:solidFill>
                  <a:srgbClr val="0A1F44"/>
                </a:solidFill>
                <a:latin typeface="Calibri"/>
              </a:rPr>
              <a:t>Regulatory Risk</a:t>
            </a:r>
          </a:p>
        </p:txBody>
      </p:sp>
      <p:sp>
        <p:nvSpPr>
          <p:cNvPr id="15" name="TextBox 14"/>
          <p:cNvSpPr txBox="1"/>
          <p:nvPr/>
        </p:nvSpPr>
        <p:spPr>
          <a:xfrm>
            <a:off x="3520440" y="3520440"/>
            <a:ext cx="2468880" cy="1371600"/>
          </a:xfrm>
          <a:prstGeom prst="rect">
            <a:avLst/>
          </a:prstGeom>
          <a:noFill/>
        </p:spPr>
        <p:txBody>
          <a:bodyPr wrap="square">
            <a:spAutoFit/>
          </a:bodyPr>
          <a:lstStyle/>
          <a:p>
            <a:pPr algn="ctr"/>
            <a:r>
              <a:rPr sz="1400" b="0" i="0">
                <a:solidFill>
                  <a:srgbClr val="888888"/>
                </a:solidFill>
                <a:latin typeface="Calibri"/>
              </a:rPr>
              <a:t>Each semester increases
the chance of NCHE
sanctions or conditions.</a:t>
            </a:r>
          </a:p>
        </p:txBody>
      </p:sp>
      <p:sp>
        <p:nvSpPr>
          <p:cNvPr id="16" name="Oval 15"/>
          <p:cNvSpPr/>
          <p:nvPr/>
        </p:nvSpPr>
        <p:spPr>
          <a:xfrm>
            <a:off x="6995160" y="2011680"/>
            <a:ext cx="731520" cy="73152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0" y="2121408"/>
            <a:ext cx="640080" cy="502920"/>
          </a:xfrm>
          <a:prstGeom prst="rect">
            <a:avLst/>
          </a:prstGeom>
          <a:noFill/>
        </p:spPr>
        <p:txBody>
          <a:bodyPr wrap="square">
            <a:spAutoFit/>
          </a:bodyPr>
          <a:lstStyle/>
          <a:p>
            <a:pPr algn="ctr"/>
            <a:r>
              <a:rPr sz="2200" b="1" i="0">
                <a:solidFill>
                  <a:srgbClr val="FFFFFF"/>
                </a:solidFill>
                <a:latin typeface="Calibri"/>
              </a:rPr>
              <a:t>→</a:t>
            </a:r>
          </a:p>
        </p:txBody>
      </p:sp>
      <p:sp>
        <p:nvSpPr>
          <p:cNvPr id="18" name="TextBox 17"/>
          <p:cNvSpPr txBox="1"/>
          <p:nvPr/>
        </p:nvSpPr>
        <p:spPr>
          <a:xfrm>
            <a:off x="6217920" y="3017520"/>
            <a:ext cx="2468880" cy="457200"/>
          </a:xfrm>
          <a:prstGeom prst="rect">
            <a:avLst/>
          </a:prstGeom>
          <a:noFill/>
        </p:spPr>
        <p:txBody>
          <a:bodyPr wrap="square">
            <a:spAutoFit/>
          </a:bodyPr>
          <a:lstStyle/>
          <a:p>
            <a:pPr algn="ctr"/>
            <a:r>
              <a:rPr sz="1900" b="1" i="0">
                <a:solidFill>
                  <a:srgbClr val="0A1F44"/>
                </a:solidFill>
                <a:latin typeface="Calibri"/>
              </a:rPr>
              <a:t>Talent Drain</a:t>
            </a:r>
          </a:p>
        </p:txBody>
      </p:sp>
      <p:sp>
        <p:nvSpPr>
          <p:cNvPr id="19" name="TextBox 18"/>
          <p:cNvSpPr txBox="1"/>
          <p:nvPr/>
        </p:nvSpPr>
        <p:spPr>
          <a:xfrm>
            <a:off x="6217920" y="3520440"/>
            <a:ext cx="2468880" cy="1371600"/>
          </a:xfrm>
          <a:prstGeom prst="rect">
            <a:avLst/>
          </a:prstGeom>
          <a:noFill/>
        </p:spPr>
        <p:txBody>
          <a:bodyPr wrap="square">
            <a:spAutoFit/>
          </a:bodyPr>
          <a:lstStyle/>
          <a:p>
            <a:pPr algn="ctr"/>
            <a:r>
              <a:rPr sz="1400" b="0" i="0">
                <a:solidFill>
                  <a:srgbClr val="888888"/>
                </a:solidFill>
                <a:latin typeface="Calibri"/>
              </a:rPr>
              <a:t>Faculty seek institutions
with modern digital
teaching infrastructure.</a:t>
            </a:r>
          </a:p>
        </p:txBody>
      </p:sp>
      <p:sp>
        <p:nvSpPr>
          <p:cNvPr id="20" name="Oval 19"/>
          <p:cNvSpPr/>
          <p:nvPr/>
        </p:nvSpPr>
        <p:spPr>
          <a:xfrm>
            <a:off x="9692640" y="2011680"/>
            <a:ext cx="731520" cy="731520"/>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38360" y="2121408"/>
            <a:ext cx="640080" cy="502920"/>
          </a:xfrm>
          <a:prstGeom prst="rect">
            <a:avLst/>
          </a:prstGeom>
          <a:noFill/>
        </p:spPr>
        <p:txBody>
          <a:bodyPr wrap="square">
            <a:spAutoFit/>
          </a:bodyPr>
          <a:lstStyle/>
          <a:p>
            <a:pPr algn="ctr"/>
            <a:r>
              <a:rPr sz="2200" b="1" i="0">
                <a:solidFill>
                  <a:srgbClr val="FFFFFF"/>
                </a:solidFill>
                <a:latin typeface="Calibri"/>
              </a:rPr>
              <a:t>✕</a:t>
            </a:r>
          </a:p>
        </p:txBody>
      </p:sp>
      <p:sp>
        <p:nvSpPr>
          <p:cNvPr id="22" name="TextBox 21"/>
          <p:cNvSpPr txBox="1"/>
          <p:nvPr/>
        </p:nvSpPr>
        <p:spPr>
          <a:xfrm>
            <a:off x="8915400" y="3017520"/>
            <a:ext cx="2468880" cy="457200"/>
          </a:xfrm>
          <a:prstGeom prst="rect">
            <a:avLst/>
          </a:prstGeom>
          <a:noFill/>
        </p:spPr>
        <p:txBody>
          <a:bodyPr wrap="square">
            <a:spAutoFit/>
          </a:bodyPr>
          <a:lstStyle/>
          <a:p>
            <a:pPr algn="ctr"/>
            <a:r>
              <a:rPr sz="1900" b="1" i="0">
                <a:solidFill>
                  <a:srgbClr val="0A1F44"/>
                </a:solidFill>
                <a:latin typeface="Calibri"/>
              </a:rPr>
              <a:t>Missed Funding</a:t>
            </a:r>
          </a:p>
        </p:txBody>
      </p:sp>
      <p:sp>
        <p:nvSpPr>
          <p:cNvPr id="23" name="TextBox 22"/>
          <p:cNvSpPr txBox="1"/>
          <p:nvPr/>
        </p:nvSpPr>
        <p:spPr>
          <a:xfrm>
            <a:off x="8915400" y="3520440"/>
            <a:ext cx="2468880" cy="1371600"/>
          </a:xfrm>
          <a:prstGeom prst="rect">
            <a:avLst/>
          </a:prstGeom>
          <a:noFill/>
        </p:spPr>
        <p:txBody>
          <a:bodyPr wrap="square">
            <a:spAutoFit/>
          </a:bodyPr>
          <a:lstStyle/>
          <a:p>
            <a:pPr algn="ctr"/>
            <a:r>
              <a:rPr sz="1400" b="0" i="0">
                <a:solidFill>
                  <a:srgbClr val="888888"/>
                </a:solidFill>
                <a:latin typeface="Calibri"/>
              </a:rPr>
              <a:t>Donors &amp; partners
increasingly require ODeL
as a prerequisite.</a:t>
            </a:r>
          </a:p>
        </p:txBody>
      </p:sp>
      <p:sp>
        <p:nvSpPr>
          <p:cNvPr id="24" name="Rectangle 23"/>
          <p:cNvSpPr/>
          <p:nvPr/>
        </p:nvSpPr>
        <p:spPr>
          <a:xfrm>
            <a:off x="822960" y="5029200"/>
            <a:ext cx="10545775" cy="9144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5166360"/>
            <a:ext cx="9814255" cy="640080"/>
          </a:xfrm>
          <a:prstGeom prst="rect">
            <a:avLst/>
          </a:prstGeom>
          <a:noFill/>
        </p:spPr>
        <p:txBody>
          <a:bodyPr wrap="square">
            <a:spAutoFit/>
          </a:bodyPr>
          <a:lstStyle/>
          <a:p>
            <a:pPr algn="ctr"/>
            <a:r>
              <a:rPr sz="1600" b="1" i="1">
                <a:solidFill>
                  <a:srgbClr val="D47B1E"/>
                </a:solidFill>
                <a:latin typeface="Calibri"/>
              </a:rPr>
              <a:t>“Every semester of inaction is not just a missed opportunity — it is an active loss of students, credibility, and institutional relevance.”</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63500" cy="201168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80160" y="2468880"/>
            <a:ext cx="9144000" cy="1097280"/>
          </a:xfrm>
          <a:prstGeom prst="rect">
            <a:avLst/>
          </a:prstGeom>
          <a:noFill/>
        </p:spPr>
        <p:txBody>
          <a:bodyPr wrap="square">
            <a:spAutoFit/>
          </a:bodyPr>
          <a:lstStyle/>
          <a:p>
            <a:pPr algn="l"/>
            <a:r>
              <a:rPr sz="4000" b="1" i="0">
                <a:solidFill>
                  <a:srgbClr val="FFFFFF"/>
                </a:solidFill>
                <a:latin typeface="Calibri Light"/>
              </a:rPr>
              <a:t>The Proposed Solution</a:t>
            </a:r>
          </a:p>
        </p:txBody>
      </p:sp>
      <p:sp>
        <p:nvSpPr>
          <p:cNvPr id="4" name="TextBox 3"/>
          <p:cNvSpPr txBox="1"/>
          <p:nvPr/>
        </p:nvSpPr>
        <p:spPr>
          <a:xfrm>
            <a:off x="1280160" y="3749039"/>
            <a:ext cx="9144000" cy="731520"/>
          </a:xfrm>
          <a:prstGeom prst="rect">
            <a:avLst/>
          </a:prstGeom>
          <a:noFill/>
        </p:spPr>
        <p:txBody>
          <a:bodyPr wrap="square">
            <a:spAutoFit/>
          </a:bodyPr>
          <a:lstStyle/>
          <a:p>
            <a:pPr algn="l"/>
            <a:r>
              <a:rPr sz="2000" b="0" i="1">
                <a:solidFill>
                  <a:srgbClr val="E8C85A"/>
                </a:solidFill>
                <a:latin typeface="Calibri"/>
              </a:rPr>
              <a:t>A modern, reliable, and cost-effective ODeL platform for MRU</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8/18</a:t>
            </a: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9/18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What a Working ODeL System Unlocks</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783080"/>
            <a:ext cx="2468880" cy="635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22960" y="1846580"/>
            <a:ext cx="2468880" cy="3474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011680"/>
            <a:ext cx="2103120" cy="457200"/>
          </a:xfrm>
          <a:prstGeom prst="rect">
            <a:avLst/>
          </a:prstGeom>
          <a:noFill/>
        </p:spPr>
        <p:txBody>
          <a:bodyPr wrap="square">
            <a:spAutoFit/>
          </a:bodyPr>
          <a:lstStyle/>
          <a:p>
            <a:pPr algn="l"/>
            <a:r>
              <a:rPr sz="1900" b="1" i="0">
                <a:solidFill>
                  <a:srgbClr val="0A1F44"/>
                </a:solidFill>
                <a:latin typeface="Calibri"/>
              </a:rPr>
              <a:t>Expanded Access</a:t>
            </a:r>
          </a:p>
        </p:txBody>
      </p:sp>
      <p:sp>
        <p:nvSpPr>
          <p:cNvPr id="11" name="Rectangle 10"/>
          <p:cNvSpPr/>
          <p:nvPr/>
        </p:nvSpPr>
        <p:spPr>
          <a:xfrm>
            <a:off x="1005840" y="2514600"/>
            <a:ext cx="73152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743200"/>
            <a:ext cx="2103120" cy="2286000"/>
          </a:xfrm>
          <a:prstGeom prst="rect">
            <a:avLst/>
          </a:prstGeom>
          <a:noFill/>
        </p:spPr>
        <p:txBody>
          <a:bodyPr wrap="square">
            <a:spAutoFit/>
          </a:bodyPr>
          <a:lstStyle/>
          <a:p>
            <a:pPr algn="l"/>
            <a:r>
              <a:rPr sz="1400" b="0" i="0">
                <a:solidFill>
                  <a:srgbClr val="2D2D2D"/>
                </a:solidFill>
                <a:latin typeface="Calibri"/>
              </a:rPr>
              <a:t>Reach working professionals, rural students, and cross-border learners who cannot attend in-person classes.</a:t>
            </a:r>
          </a:p>
        </p:txBody>
      </p:sp>
      <p:sp>
        <p:nvSpPr>
          <p:cNvPr id="13" name="Rectangle 12"/>
          <p:cNvSpPr/>
          <p:nvPr/>
        </p:nvSpPr>
        <p:spPr>
          <a:xfrm>
            <a:off x="3520440" y="1783080"/>
            <a:ext cx="2468880" cy="635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520440" y="1846580"/>
            <a:ext cx="2468880" cy="3474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03320" y="2011680"/>
            <a:ext cx="2103120" cy="457200"/>
          </a:xfrm>
          <a:prstGeom prst="rect">
            <a:avLst/>
          </a:prstGeom>
          <a:noFill/>
        </p:spPr>
        <p:txBody>
          <a:bodyPr wrap="square">
            <a:spAutoFit/>
          </a:bodyPr>
          <a:lstStyle/>
          <a:p>
            <a:pPr algn="l"/>
            <a:r>
              <a:rPr sz="1900" b="1" i="0">
                <a:solidFill>
                  <a:srgbClr val="0A1F44"/>
                </a:solidFill>
                <a:latin typeface="Calibri"/>
              </a:rPr>
              <a:t>New Revenue Streams</a:t>
            </a:r>
          </a:p>
        </p:txBody>
      </p:sp>
      <p:sp>
        <p:nvSpPr>
          <p:cNvPr id="16" name="Rectangle 15"/>
          <p:cNvSpPr/>
          <p:nvPr/>
        </p:nvSpPr>
        <p:spPr>
          <a:xfrm>
            <a:off x="3703320" y="2514600"/>
            <a:ext cx="73152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703320" y="2743200"/>
            <a:ext cx="2103120" cy="2286000"/>
          </a:xfrm>
          <a:prstGeom prst="rect">
            <a:avLst/>
          </a:prstGeom>
          <a:noFill/>
        </p:spPr>
        <p:txBody>
          <a:bodyPr wrap="square">
            <a:spAutoFit/>
          </a:bodyPr>
          <a:lstStyle/>
          <a:p>
            <a:pPr algn="l"/>
            <a:r>
              <a:rPr sz="1400" b="0" i="0">
                <a:solidFill>
                  <a:srgbClr val="2D2D2D"/>
                </a:solidFill>
                <a:latin typeface="Calibri"/>
              </a:rPr>
              <a:t>Distance programmes generate tuition revenue with lower marginal costs than traditional classroom delivery.</a:t>
            </a:r>
          </a:p>
        </p:txBody>
      </p:sp>
      <p:sp>
        <p:nvSpPr>
          <p:cNvPr id="18" name="Rectangle 17"/>
          <p:cNvSpPr/>
          <p:nvPr/>
        </p:nvSpPr>
        <p:spPr>
          <a:xfrm>
            <a:off x="6217920" y="1783080"/>
            <a:ext cx="2468880" cy="635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1846580"/>
            <a:ext cx="2468880" cy="3474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0" y="2011680"/>
            <a:ext cx="2103120" cy="457200"/>
          </a:xfrm>
          <a:prstGeom prst="rect">
            <a:avLst/>
          </a:prstGeom>
          <a:noFill/>
        </p:spPr>
        <p:txBody>
          <a:bodyPr wrap="square">
            <a:spAutoFit/>
          </a:bodyPr>
          <a:lstStyle/>
          <a:p>
            <a:pPr algn="l"/>
            <a:r>
              <a:rPr sz="1900" b="1" i="0">
                <a:solidFill>
                  <a:srgbClr val="0A1F44"/>
                </a:solidFill>
                <a:latin typeface="Calibri"/>
              </a:rPr>
              <a:t>NCHE Compliance</a:t>
            </a:r>
          </a:p>
        </p:txBody>
      </p:sp>
      <p:sp>
        <p:nvSpPr>
          <p:cNvPr id="21" name="Rectangle 20"/>
          <p:cNvSpPr/>
          <p:nvPr/>
        </p:nvSpPr>
        <p:spPr>
          <a:xfrm>
            <a:off x="6400800" y="2514600"/>
            <a:ext cx="73152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2743200"/>
            <a:ext cx="2103120" cy="2286000"/>
          </a:xfrm>
          <a:prstGeom prst="rect">
            <a:avLst/>
          </a:prstGeom>
          <a:noFill/>
        </p:spPr>
        <p:txBody>
          <a:bodyPr wrap="square">
            <a:spAutoFit/>
          </a:bodyPr>
          <a:lstStyle/>
          <a:p>
            <a:pPr algn="l"/>
            <a:r>
              <a:rPr sz="1400" b="0" i="0">
                <a:solidFill>
                  <a:srgbClr val="2D2D2D"/>
                </a:solidFill>
                <a:latin typeface="Calibri"/>
              </a:rPr>
              <a:t>Meet regulatory requirements and position MRU as a compliant, forward-thinking institution during evaluations.</a:t>
            </a:r>
          </a:p>
        </p:txBody>
      </p:sp>
      <p:sp>
        <p:nvSpPr>
          <p:cNvPr id="23" name="Rectangle 22"/>
          <p:cNvSpPr/>
          <p:nvPr/>
        </p:nvSpPr>
        <p:spPr>
          <a:xfrm>
            <a:off x="8915400" y="1783080"/>
            <a:ext cx="2468880" cy="635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15400" y="1846580"/>
            <a:ext cx="2468880" cy="3474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98280" y="2011680"/>
            <a:ext cx="2103120" cy="457200"/>
          </a:xfrm>
          <a:prstGeom prst="rect">
            <a:avLst/>
          </a:prstGeom>
          <a:noFill/>
        </p:spPr>
        <p:txBody>
          <a:bodyPr wrap="square">
            <a:spAutoFit/>
          </a:bodyPr>
          <a:lstStyle/>
          <a:p>
            <a:pPr algn="l"/>
            <a:r>
              <a:rPr sz="1900" b="1" i="0">
                <a:solidFill>
                  <a:srgbClr val="0A1F44"/>
                </a:solidFill>
                <a:latin typeface="Calibri"/>
              </a:rPr>
              <a:t>Competitive Positioning</a:t>
            </a:r>
          </a:p>
        </p:txBody>
      </p:sp>
      <p:sp>
        <p:nvSpPr>
          <p:cNvPr id="26" name="Rectangle 25"/>
          <p:cNvSpPr/>
          <p:nvPr/>
        </p:nvSpPr>
        <p:spPr>
          <a:xfrm>
            <a:off x="9098280" y="2514600"/>
            <a:ext cx="731520" cy="254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98280" y="2743200"/>
            <a:ext cx="2103120" cy="2286000"/>
          </a:xfrm>
          <a:prstGeom prst="rect">
            <a:avLst/>
          </a:prstGeom>
          <a:noFill/>
        </p:spPr>
        <p:txBody>
          <a:bodyPr wrap="square">
            <a:spAutoFit/>
          </a:bodyPr>
          <a:lstStyle/>
          <a:p>
            <a:pPr algn="l"/>
            <a:r>
              <a:rPr sz="1400" b="0" i="0">
                <a:solidFill>
                  <a:srgbClr val="2D2D2D"/>
                </a:solidFill>
                <a:latin typeface="Calibri"/>
              </a:rPr>
              <a:t>Join Makerere, Kyambogo, and Gulu among Uganda’s digitally capable universities. Attract students and partnerships.</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10/18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Platform Branding &amp; Architecture</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45775" cy="457200"/>
          </a:xfrm>
          <a:prstGeom prst="rect">
            <a:avLst/>
          </a:prstGeom>
          <a:noFill/>
        </p:spPr>
        <p:txBody>
          <a:bodyPr wrap="square">
            <a:spAutoFit/>
          </a:bodyPr>
          <a:lstStyle/>
          <a:p>
            <a:pPr algn="l"/>
            <a:r>
              <a:rPr sz="1600" b="0" i="1">
                <a:solidFill>
                  <a:srgbClr val="888888"/>
                </a:solidFill>
                <a:latin typeface="Calibri"/>
              </a:rPr>
              <a:t>Three proposed names for MRU’s new ODeL platform — for the VC’s consideration:</a:t>
            </a:r>
          </a:p>
        </p:txBody>
      </p:sp>
      <p:sp>
        <p:nvSpPr>
          <p:cNvPr id="9" name="Rectangle 8"/>
          <p:cNvSpPr/>
          <p:nvPr/>
        </p:nvSpPr>
        <p:spPr>
          <a:xfrm>
            <a:off x="822960" y="2148840"/>
            <a:ext cx="3337560" cy="4572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194560"/>
            <a:ext cx="2926080" cy="365760"/>
          </a:xfrm>
          <a:prstGeom prst="rect">
            <a:avLst/>
          </a:prstGeom>
          <a:noFill/>
        </p:spPr>
        <p:txBody>
          <a:bodyPr wrap="square">
            <a:spAutoFit/>
          </a:bodyPr>
          <a:lstStyle/>
          <a:p>
            <a:pPr algn="ctr"/>
            <a:r>
              <a:rPr sz="2000" b="1" i="0">
                <a:solidFill>
                  <a:srgbClr val="0A1F44"/>
                </a:solidFill>
                <a:latin typeface="Calibri"/>
              </a:rPr>
              <a:t>MRU Learn</a:t>
            </a:r>
          </a:p>
        </p:txBody>
      </p:sp>
      <p:sp>
        <p:nvSpPr>
          <p:cNvPr id="11" name="Rectangle 10"/>
          <p:cNvSpPr/>
          <p:nvPr/>
        </p:nvSpPr>
        <p:spPr>
          <a:xfrm>
            <a:off x="822960" y="2606040"/>
            <a:ext cx="3337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743200"/>
            <a:ext cx="2926080" cy="914400"/>
          </a:xfrm>
          <a:prstGeom prst="rect">
            <a:avLst/>
          </a:prstGeom>
          <a:noFill/>
        </p:spPr>
        <p:txBody>
          <a:bodyPr wrap="square">
            <a:spAutoFit/>
          </a:bodyPr>
          <a:lstStyle/>
          <a:p>
            <a:pPr algn="ctr"/>
            <a:r>
              <a:rPr sz="1400" b="0" i="0">
                <a:solidFill>
                  <a:srgbClr val="2D2D2D"/>
                </a:solidFill>
                <a:latin typeface="Calibri"/>
              </a:rPr>
              <a:t>Simple, clean, and institutional.
Instantly recognisable as
MRU’s official learning platform.</a:t>
            </a:r>
          </a:p>
        </p:txBody>
      </p:sp>
      <p:sp>
        <p:nvSpPr>
          <p:cNvPr id="13" name="Rectangle 12"/>
          <p:cNvSpPr/>
          <p:nvPr/>
        </p:nvSpPr>
        <p:spPr>
          <a:xfrm>
            <a:off x="4434840" y="2148840"/>
            <a:ext cx="3337560" cy="4572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2194560"/>
            <a:ext cx="2926080" cy="365760"/>
          </a:xfrm>
          <a:prstGeom prst="rect">
            <a:avLst/>
          </a:prstGeom>
          <a:noFill/>
        </p:spPr>
        <p:txBody>
          <a:bodyPr wrap="square">
            <a:spAutoFit/>
          </a:bodyPr>
          <a:lstStyle/>
          <a:p>
            <a:pPr algn="ctr"/>
            <a:r>
              <a:rPr sz="2000" b="1" i="0">
                <a:solidFill>
                  <a:srgbClr val="0A1F44"/>
                </a:solidFill>
                <a:latin typeface="Calibri"/>
              </a:rPr>
              <a:t>RoyalEdge</a:t>
            </a:r>
          </a:p>
        </p:txBody>
      </p:sp>
      <p:sp>
        <p:nvSpPr>
          <p:cNvPr id="15" name="Rectangle 14"/>
          <p:cNvSpPr/>
          <p:nvPr/>
        </p:nvSpPr>
        <p:spPr>
          <a:xfrm>
            <a:off x="4434840" y="2606040"/>
            <a:ext cx="3337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7720" y="2743200"/>
            <a:ext cx="2926080" cy="914400"/>
          </a:xfrm>
          <a:prstGeom prst="rect">
            <a:avLst/>
          </a:prstGeom>
          <a:noFill/>
        </p:spPr>
        <p:txBody>
          <a:bodyPr wrap="square">
            <a:spAutoFit/>
          </a:bodyPr>
          <a:lstStyle/>
          <a:p>
            <a:pPr algn="ctr"/>
            <a:r>
              <a:rPr sz="1400" b="0" i="0">
                <a:solidFill>
                  <a:srgbClr val="2D2D2D"/>
                </a:solidFill>
                <a:latin typeface="Calibri"/>
              </a:rPr>
              <a:t>Plays on “Royal” from Muteesa I
Royal University. Conveys
modern competitive advantage.</a:t>
            </a:r>
          </a:p>
        </p:txBody>
      </p:sp>
      <p:sp>
        <p:nvSpPr>
          <p:cNvPr id="17" name="Rectangle 16"/>
          <p:cNvSpPr/>
          <p:nvPr/>
        </p:nvSpPr>
        <p:spPr>
          <a:xfrm>
            <a:off x="8046720" y="2148840"/>
            <a:ext cx="3337560" cy="4572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2194560"/>
            <a:ext cx="2926080" cy="365760"/>
          </a:xfrm>
          <a:prstGeom prst="rect">
            <a:avLst/>
          </a:prstGeom>
          <a:noFill/>
        </p:spPr>
        <p:txBody>
          <a:bodyPr wrap="square">
            <a:spAutoFit/>
          </a:bodyPr>
          <a:lstStyle/>
          <a:p>
            <a:pPr algn="ctr"/>
            <a:r>
              <a:rPr sz="2000" b="1" i="0">
                <a:solidFill>
                  <a:srgbClr val="0A1F44"/>
                </a:solidFill>
                <a:latin typeface="Calibri"/>
              </a:rPr>
              <a:t>MuteesaLMS</a:t>
            </a:r>
          </a:p>
        </p:txBody>
      </p:sp>
      <p:sp>
        <p:nvSpPr>
          <p:cNvPr id="19" name="Rectangle 18"/>
          <p:cNvSpPr/>
          <p:nvPr/>
        </p:nvSpPr>
        <p:spPr>
          <a:xfrm>
            <a:off x="8046720" y="2606040"/>
            <a:ext cx="3337560" cy="1188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0" y="2743200"/>
            <a:ext cx="2926080" cy="914400"/>
          </a:xfrm>
          <a:prstGeom prst="rect">
            <a:avLst/>
          </a:prstGeom>
          <a:noFill/>
        </p:spPr>
        <p:txBody>
          <a:bodyPr wrap="square">
            <a:spAutoFit/>
          </a:bodyPr>
          <a:lstStyle/>
          <a:p>
            <a:pPr algn="ctr"/>
            <a:r>
              <a:rPr sz="1400" b="0" i="0">
                <a:solidFill>
                  <a:srgbClr val="2D2D2D"/>
                </a:solidFill>
                <a:latin typeface="Calibri"/>
              </a:rPr>
              <a:t>Ties directly to the university’s
identity. Clear purpose:
Muteesa’s Learning Management System.</a:t>
            </a:r>
          </a:p>
        </p:txBody>
      </p:sp>
      <p:sp>
        <p:nvSpPr>
          <p:cNvPr id="21" name="TextBox 20"/>
          <p:cNvSpPr txBox="1"/>
          <p:nvPr/>
        </p:nvSpPr>
        <p:spPr>
          <a:xfrm>
            <a:off x="822960" y="3794760"/>
            <a:ext cx="10545775" cy="365760"/>
          </a:xfrm>
          <a:prstGeom prst="rect">
            <a:avLst/>
          </a:prstGeom>
          <a:noFill/>
        </p:spPr>
        <p:txBody>
          <a:bodyPr wrap="square">
            <a:spAutoFit/>
          </a:bodyPr>
          <a:lstStyle/>
          <a:p>
            <a:pPr algn="l"/>
            <a:r>
              <a:rPr sz="2000" b="1" i="0">
                <a:solidFill>
                  <a:srgbClr val="0A1F44"/>
                </a:solidFill>
                <a:latin typeface="Calibri"/>
              </a:rPr>
              <a:t>System Architecture</a:t>
            </a:r>
          </a:p>
        </p:txBody>
      </p:sp>
      <p:sp>
        <p:nvSpPr>
          <p:cNvPr id="22" name="Rectangle 21"/>
          <p:cNvSpPr/>
          <p:nvPr/>
        </p:nvSpPr>
        <p:spPr>
          <a:xfrm>
            <a:off x="822960" y="4069080"/>
            <a:ext cx="1463040"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097280" y="4389120"/>
            <a:ext cx="10058400" cy="640080"/>
          </a:xfrm>
          <a:prstGeom prst="rect">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71600" y="4434840"/>
            <a:ext cx="1371600" cy="274320"/>
          </a:xfrm>
          <a:prstGeom prst="rect">
            <a:avLst/>
          </a:prstGeom>
          <a:noFill/>
        </p:spPr>
        <p:txBody>
          <a:bodyPr wrap="square">
            <a:spAutoFit/>
          </a:bodyPr>
          <a:lstStyle/>
          <a:p>
            <a:pPr algn="l"/>
            <a:r>
              <a:rPr sz="1000" b="1" i="0">
                <a:solidFill>
                  <a:srgbClr val="E8C85A"/>
                </a:solidFill>
                <a:latin typeface="Calibri"/>
              </a:rPr>
              <a:t>USERS</a:t>
            </a:r>
          </a:p>
        </p:txBody>
      </p:sp>
      <p:sp>
        <p:nvSpPr>
          <p:cNvPr id="25" name="TextBox 24"/>
          <p:cNvSpPr txBox="1"/>
          <p:nvPr/>
        </p:nvSpPr>
        <p:spPr>
          <a:xfrm>
            <a:off x="1371600" y="4663440"/>
            <a:ext cx="4114800" cy="320040"/>
          </a:xfrm>
          <a:prstGeom prst="rect">
            <a:avLst/>
          </a:prstGeom>
          <a:noFill/>
        </p:spPr>
        <p:txBody>
          <a:bodyPr wrap="square">
            <a:spAutoFit/>
          </a:bodyPr>
          <a:lstStyle/>
          <a:p>
            <a:pPr algn="l"/>
            <a:r>
              <a:rPr sz="1400" b="1" i="0">
                <a:solidFill>
                  <a:srgbClr val="FFFFFF"/>
                </a:solidFill>
                <a:latin typeface="Calibri"/>
              </a:rPr>
              <a:t>Students  ·  Lecturers  ·  Administrators</a:t>
            </a:r>
          </a:p>
        </p:txBody>
      </p:sp>
      <p:sp>
        <p:nvSpPr>
          <p:cNvPr id="26" name="TextBox 25"/>
          <p:cNvSpPr txBox="1"/>
          <p:nvPr/>
        </p:nvSpPr>
        <p:spPr>
          <a:xfrm>
            <a:off x="6400800" y="4526280"/>
            <a:ext cx="4389120" cy="365760"/>
          </a:xfrm>
          <a:prstGeom prst="rect">
            <a:avLst/>
          </a:prstGeom>
          <a:noFill/>
        </p:spPr>
        <p:txBody>
          <a:bodyPr wrap="square">
            <a:spAutoFit/>
          </a:bodyPr>
          <a:lstStyle/>
          <a:p>
            <a:pPr algn="l"/>
            <a:r>
              <a:rPr sz="1200" b="0" i="0">
                <a:solidFill>
                  <a:srgbClr val="DDEEFF"/>
                </a:solidFill>
                <a:latin typeface="Calibri"/>
              </a:rPr>
              <a:t>Browser or mobile, anywhere with internet.</a:t>
            </a:r>
          </a:p>
        </p:txBody>
      </p:sp>
      <p:sp>
        <p:nvSpPr>
          <p:cNvPr id="27" name="Rectangle 26"/>
          <p:cNvSpPr/>
          <p:nvPr/>
        </p:nvSpPr>
        <p:spPr>
          <a:xfrm>
            <a:off x="1097280" y="5138928"/>
            <a:ext cx="10058400" cy="6400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71600" y="5184648"/>
            <a:ext cx="1371600" cy="274320"/>
          </a:xfrm>
          <a:prstGeom prst="rect">
            <a:avLst/>
          </a:prstGeom>
          <a:noFill/>
        </p:spPr>
        <p:txBody>
          <a:bodyPr wrap="square">
            <a:spAutoFit/>
          </a:bodyPr>
          <a:lstStyle/>
          <a:p>
            <a:pPr algn="l"/>
            <a:r>
              <a:rPr sz="1000" b="1" i="0">
                <a:solidFill>
                  <a:srgbClr val="E8C85A"/>
                </a:solidFill>
                <a:latin typeface="Calibri"/>
              </a:rPr>
              <a:t>APPLICATION</a:t>
            </a:r>
          </a:p>
        </p:txBody>
      </p:sp>
      <p:sp>
        <p:nvSpPr>
          <p:cNvPr id="29" name="TextBox 28"/>
          <p:cNvSpPr txBox="1"/>
          <p:nvPr/>
        </p:nvSpPr>
        <p:spPr>
          <a:xfrm>
            <a:off x="1371600" y="5413248"/>
            <a:ext cx="4114800" cy="320040"/>
          </a:xfrm>
          <a:prstGeom prst="rect">
            <a:avLst/>
          </a:prstGeom>
          <a:noFill/>
        </p:spPr>
        <p:txBody>
          <a:bodyPr wrap="square">
            <a:spAutoFit/>
          </a:bodyPr>
          <a:lstStyle/>
          <a:p>
            <a:pPr algn="l"/>
            <a:r>
              <a:rPr sz="1400" b="1" i="0">
                <a:solidFill>
                  <a:srgbClr val="FFFFFF"/>
                </a:solidFill>
                <a:latin typeface="Calibri"/>
              </a:rPr>
              <a:t>Moodle LMS  +  Custom MRU Modules</a:t>
            </a:r>
          </a:p>
        </p:txBody>
      </p:sp>
      <p:sp>
        <p:nvSpPr>
          <p:cNvPr id="30" name="TextBox 29"/>
          <p:cNvSpPr txBox="1"/>
          <p:nvPr/>
        </p:nvSpPr>
        <p:spPr>
          <a:xfrm>
            <a:off x="6400800" y="5276088"/>
            <a:ext cx="4389120" cy="365760"/>
          </a:xfrm>
          <a:prstGeom prst="rect">
            <a:avLst/>
          </a:prstGeom>
          <a:noFill/>
        </p:spPr>
        <p:txBody>
          <a:bodyPr wrap="square">
            <a:spAutoFit/>
          </a:bodyPr>
          <a:lstStyle/>
          <a:p>
            <a:pPr algn="l"/>
            <a:r>
              <a:rPr sz="1200" b="0" i="0">
                <a:solidFill>
                  <a:srgbClr val="DDEEFF"/>
                </a:solidFill>
                <a:latin typeface="Calibri"/>
              </a:rPr>
              <a:t>Courses, assessments, grading, analytics, notifications.</a:t>
            </a:r>
          </a:p>
        </p:txBody>
      </p:sp>
      <p:sp>
        <p:nvSpPr>
          <p:cNvPr id="31" name="Rectangle 30"/>
          <p:cNvSpPr/>
          <p:nvPr/>
        </p:nvSpPr>
        <p:spPr>
          <a:xfrm>
            <a:off x="1097280" y="5888736"/>
            <a:ext cx="10058400" cy="6400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371600" y="5934456"/>
            <a:ext cx="1371600" cy="274320"/>
          </a:xfrm>
          <a:prstGeom prst="rect">
            <a:avLst/>
          </a:prstGeom>
          <a:noFill/>
        </p:spPr>
        <p:txBody>
          <a:bodyPr wrap="square">
            <a:spAutoFit/>
          </a:bodyPr>
          <a:lstStyle/>
          <a:p>
            <a:pPr algn="l"/>
            <a:r>
              <a:rPr sz="1000" b="1" i="0">
                <a:solidFill>
                  <a:srgbClr val="E8C85A"/>
                </a:solidFill>
                <a:latin typeface="Calibri"/>
              </a:rPr>
              <a:t>INFRASTRUCTURE</a:t>
            </a:r>
          </a:p>
        </p:txBody>
      </p:sp>
      <p:sp>
        <p:nvSpPr>
          <p:cNvPr id="33" name="TextBox 32"/>
          <p:cNvSpPr txBox="1"/>
          <p:nvPr/>
        </p:nvSpPr>
        <p:spPr>
          <a:xfrm>
            <a:off x="1371600" y="6163056"/>
            <a:ext cx="4114800" cy="320040"/>
          </a:xfrm>
          <a:prstGeom prst="rect">
            <a:avLst/>
          </a:prstGeom>
          <a:noFill/>
        </p:spPr>
        <p:txBody>
          <a:bodyPr wrap="square">
            <a:spAutoFit/>
          </a:bodyPr>
          <a:lstStyle/>
          <a:p>
            <a:pPr algn="l"/>
            <a:r>
              <a:rPr sz="1400" b="1" i="0">
                <a:solidFill>
                  <a:srgbClr val="FFFFFF"/>
                </a:solidFill>
                <a:latin typeface="Calibri"/>
              </a:rPr>
              <a:t>Cloud VPS: 12 CPU · 24 GB RAM · 2 TB SSD</a:t>
            </a:r>
          </a:p>
        </p:txBody>
      </p:sp>
      <p:sp>
        <p:nvSpPr>
          <p:cNvPr id="34" name="TextBox 33"/>
          <p:cNvSpPr txBox="1"/>
          <p:nvPr/>
        </p:nvSpPr>
        <p:spPr>
          <a:xfrm>
            <a:off x="6400800" y="6025896"/>
            <a:ext cx="4389120" cy="365760"/>
          </a:xfrm>
          <a:prstGeom prst="rect">
            <a:avLst/>
          </a:prstGeom>
          <a:noFill/>
        </p:spPr>
        <p:txBody>
          <a:bodyPr wrap="square">
            <a:spAutoFit/>
          </a:bodyPr>
          <a:lstStyle/>
          <a:p>
            <a:pPr algn="l"/>
            <a:r>
              <a:rPr sz="1200" b="0" i="0">
                <a:solidFill>
                  <a:srgbClr val="DDEEFF"/>
                </a:solidFill>
                <a:latin typeface="Calibri"/>
              </a:rPr>
              <a:t>Automated backups, SSL, 99.9% uptime, scalable.</a:t>
            </a: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11/18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What Students &amp; Staff Will Experience</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600200"/>
            <a:ext cx="5029200" cy="4114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1618488"/>
            <a:ext cx="4572000" cy="365760"/>
          </a:xfrm>
          <a:prstGeom prst="rect">
            <a:avLst/>
          </a:prstGeom>
          <a:noFill/>
        </p:spPr>
        <p:txBody>
          <a:bodyPr wrap="square">
            <a:spAutoFit/>
          </a:bodyPr>
          <a:lstStyle/>
          <a:p>
            <a:pPr algn="l"/>
            <a:r>
              <a:rPr sz="1600" b="1" i="0">
                <a:solidFill>
                  <a:srgbClr val="FFFFFF"/>
                </a:solidFill>
                <a:latin typeface="Calibri"/>
              </a:rPr>
              <a:t>Core Moodle Features</a:t>
            </a:r>
          </a:p>
        </p:txBody>
      </p:sp>
      <p:sp>
        <p:nvSpPr>
          <p:cNvPr id="10" name="Rectangle 9"/>
          <p:cNvSpPr/>
          <p:nvPr/>
        </p:nvSpPr>
        <p:spPr>
          <a:xfrm>
            <a:off x="6400800" y="1600200"/>
            <a:ext cx="5029200" cy="41148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618488"/>
            <a:ext cx="4572000" cy="365760"/>
          </a:xfrm>
          <a:prstGeom prst="rect">
            <a:avLst/>
          </a:prstGeom>
          <a:noFill/>
        </p:spPr>
        <p:txBody>
          <a:bodyPr wrap="square">
            <a:spAutoFit/>
          </a:bodyPr>
          <a:lstStyle/>
          <a:p>
            <a:pPr algn="l"/>
            <a:r>
              <a:rPr sz="1600" b="1" i="0">
                <a:solidFill>
                  <a:srgbClr val="0A1F44"/>
                </a:solidFill>
                <a:latin typeface="Calibri"/>
              </a:rPr>
              <a:t>Custom-Built MRU Integrations</a:t>
            </a:r>
          </a:p>
        </p:txBody>
      </p:sp>
      <p:sp>
        <p:nvSpPr>
          <p:cNvPr id="12" name="Oval 11"/>
          <p:cNvSpPr/>
          <p:nvPr/>
        </p:nvSpPr>
        <p:spPr>
          <a:xfrm>
            <a:off x="914400" y="2286000"/>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34440" y="2194560"/>
            <a:ext cx="4572000" cy="457200"/>
          </a:xfrm>
          <a:prstGeom prst="rect">
            <a:avLst/>
          </a:prstGeom>
          <a:noFill/>
        </p:spPr>
        <p:txBody>
          <a:bodyPr wrap="square">
            <a:spAutoFit/>
          </a:bodyPr>
          <a:lstStyle/>
          <a:p>
            <a:pPr algn="l"/>
            <a:r>
              <a:rPr sz="1500" b="0" i="0">
                <a:solidFill>
                  <a:srgbClr val="2D2D2D"/>
                </a:solidFill>
                <a:latin typeface="Calibri"/>
              </a:rPr>
              <a:t>Course content upload &amp; management</a:t>
            </a:r>
          </a:p>
        </p:txBody>
      </p:sp>
      <p:sp>
        <p:nvSpPr>
          <p:cNvPr id="14" name="Oval 13"/>
          <p:cNvSpPr/>
          <p:nvPr/>
        </p:nvSpPr>
        <p:spPr>
          <a:xfrm>
            <a:off x="914400" y="2852928"/>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2761488"/>
            <a:ext cx="4572000" cy="457200"/>
          </a:xfrm>
          <a:prstGeom prst="rect">
            <a:avLst/>
          </a:prstGeom>
          <a:noFill/>
        </p:spPr>
        <p:txBody>
          <a:bodyPr wrap="square">
            <a:spAutoFit/>
          </a:bodyPr>
          <a:lstStyle/>
          <a:p>
            <a:pPr algn="l"/>
            <a:r>
              <a:rPr sz="1500" b="0" i="0">
                <a:solidFill>
                  <a:srgbClr val="2D2D2D"/>
                </a:solidFill>
                <a:latin typeface="Calibri"/>
              </a:rPr>
              <a:t>Assignment submission &amp; online grading</a:t>
            </a:r>
          </a:p>
        </p:txBody>
      </p:sp>
      <p:sp>
        <p:nvSpPr>
          <p:cNvPr id="16" name="Oval 15"/>
          <p:cNvSpPr/>
          <p:nvPr/>
        </p:nvSpPr>
        <p:spPr>
          <a:xfrm>
            <a:off x="914400" y="3419856"/>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34440" y="3328416"/>
            <a:ext cx="4572000" cy="457200"/>
          </a:xfrm>
          <a:prstGeom prst="rect">
            <a:avLst/>
          </a:prstGeom>
          <a:noFill/>
        </p:spPr>
        <p:txBody>
          <a:bodyPr wrap="square">
            <a:spAutoFit/>
          </a:bodyPr>
          <a:lstStyle/>
          <a:p>
            <a:pPr algn="l"/>
            <a:r>
              <a:rPr sz="1500" b="0" i="0">
                <a:solidFill>
                  <a:srgbClr val="2D2D2D"/>
                </a:solidFill>
                <a:latin typeface="Calibri"/>
              </a:rPr>
              <a:t>Discussion forums &amp; direct messaging</a:t>
            </a:r>
          </a:p>
        </p:txBody>
      </p:sp>
      <p:sp>
        <p:nvSpPr>
          <p:cNvPr id="18" name="Oval 17"/>
          <p:cNvSpPr/>
          <p:nvPr/>
        </p:nvSpPr>
        <p:spPr>
          <a:xfrm>
            <a:off x="914400" y="3986784"/>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3895344"/>
            <a:ext cx="4572000" cy="457200"/>
          </a:xfrm>
          <a:prstGeom prst="rect">
            <a:avLst/>
          </a:prstGeom>
          <a:noFill/>
        </p:spPr>
        <p:txBody>
          <a:bodyPr wrap="square">
            <a:spAutoFit/>
          </a:bodyPr>
          <a:lstStyle/>
          <a:p>
            <a:pPr algn="l"/>
            <a:r>
              <a:rPr sz="1500" b="0" i="0">
                <a:solidFill>
                  <a:srgbClr val="2D2D2D"/>
                </a:solidFill>
                <a:latin typeface="Calibri"/>
              </a:rPr>
              <a:t>Video lecture hosting &amp; playback</a:t>
            </a:r>
          </a:p>
        </p:txBody>
      </p:sp>
      <p:sp>
        <p:nvSpPr>
          <p:cNvPr id="20" name="Oval 19"/>
          <p:cNvSpPr/>
          <p:nvPr/>
        </p:nvSpPr>
        <p:spPr>
          <a:xfrm>
            <a:off x="914400" y="4553712"/>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4440" y="4462272"/>
            <a:ext cx="4572000" cy="457200"/>
          </a:xfrm>
          <a:prstGeom prst="rect">
            <a:avLst/>
          </a:prstGeom>
          <a:noFill/>
        </p:spPr>
        <p:txBody>
          <a:bodyPr wrap="square">
            <a:spAutoFit/>
          </a:bodyPr>
          <a:lstStyle/>
          <a:p>
            <a:pPr algn="l"/>
            <a:r>
              <a:rPr sz="1500" b="0" i="0">
                <a:solidFill>
                  <a:srgbClr val="2D2D2D"/>
                </a:solidFill>
                <a:latin typeface="Calibri"/>
              </a:rPr>
              <a:t>Timed online quizzes &amp; examinations</a:t>
            </a:r>
          </a:p>
        </p:txBody>
      </p:sp>
      <p:sp>
        <p:nvSpPr>
          <p:cNvPr id="22" name="Oval 21"/>
          <p:cNvSpPr/>
          <p:nvPr/>
        </p:nvSpPr>
        <p:spPr>
          <a:xfrm>
            <a:off x="914400" y="5120640"/>
            <a:ext cx="101600" cy="1016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5029200"/>
            <a:ext cx="4572000" cy="457200"/>
          </a:xfrm>
          <a:prstGeom prst="rect">
            <a:avLst/>
          </a:prstGeom>
          <a:noFill/>
        </p:spPr>
        <p:txBody>
          <a:bodyPr wrap="square">
            <a:spAutoFit/>
          </a:bodyPr>
          <a:lstStyle/>
          <a:p>
            <a:pPr algn="l"/>
            <a:r>
              <a:rPr sz="1500" b="0" i="0">
                <a:solidFill>
                  <a:srgbClr val="2D2D2D"/>
                </a:solidFill>
                <a:latin typeface="Calibri"/>
              </a:rPr>
              <a:t>Attendance &amp; progress tracking</a:t>
            </a:r>
          </a:p>
        </p:txBody>
      </p:sp>
      <p:sp>
        <p:nvSpPr>
          <p:cNvPr id="24" name="Oval 23"/>
          <p:cNvSpPr/>
          <p:nvPr/>
        </p:nvSpPr>
        <p:spPr>
          <a:xfrm>
            <a:off x="6492240" y="2286000"/>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2194560"/>
            <a:ext cx="4572000" cy="457200"/>
          </a:xfrm>
          <a:prstGeom prst="rect">
            <a:avLst/>
          </a:prstGeom>
          <a:noFill/>
        </p:spPr>
        <p:txBody>
          <a:bodyPr wrap="square">
            <a:spAutoFit/>
          </a:bodyPr>
          <a:lstStyle/>
          <a:p>
            <a:pPr algn="l"/>
            <a:r>
              <a:rPr sz="1500" b="0" i="0">
                <a:solidFill>
                  <a:srgbClr val="2D2D2D"/>
                </a:solidFill>
                <a:latin typeface="Calibri"/>
              </a:rPr>
              <a:t>Mobile-friendly access (phone &amp; tablet)</a:t>
            </a:r>
          </a:p>
        </p:txBody>
      </p:sp>
      <p:sp>
        <p:nvSpPr>
          <p:cNvPr id="26" name="Oval 25"/>
          <p:cNvSpPr/>
          <p:nvPr/>
        </p:nvSpPr>
        <p:spPr>
          <a:xfrm>
            <a:off x="6492240" y="2852928"/>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2280" y="2761488"/>
            <a:ext cx="4572000" cy="457200"/>
          </a:xfrm>
          <a:prstGeom prst="rect">
            <a:avLst/>
          </a:prstGeom>
          <a:noFill/>
        </p:spPr>
        <p:txBody>
          <a:bodyPr wrap="square">
            <a:spAutoFit/>
          </a:bodyPr>
          <a:lstStyle/>
          <a:p>
            <a:pPr algn="l"/>
            <a:r>
              <a:rPr sz="1500" b="0" i="0">
                <a:solidFill>
                  <a:srgbClr val="2D2D2D"/>
                </a:solidFill>
                <a:latin typeface="Calibri"/>
              </a:rPr>
              <a:t>Plagiarism detection integration</a:t>
            </a:r>
          </a:p>
        </p:txBody>
      </p:sp>
      <p:sp>
        <p:nvSpPr>
          <p:cNvPr id="28" name="Oval 27"/>
          <p:cNvSpPr/>
          <p:nvPr/>
        </p:nvSpPr>
        <p:spPr>
          <a:xfrm>
            <a:off x="6492240" y="3419856"/>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12280" y="3328416"/>
            <a:ext cx="4572000" cy="457200"/>
          </a:xfrm>
          <a:prstGeom prst="rect">
            <a:avLst/>
          </a:prstGeom>
          <a:noFill/>
        </p:spPr>
        <p:txBody>
          <a:bodyPr wrap="square">
            <a:spAutoFit/>
          </a:bodyPr>
          <a:lstStyle/>
          <a:p>
            <a:pPr algn="l"/>
            <a:r>
              <a:rPr sz="1500" b="0" i="0">
                <a:solidFill>
                  <a:srgbClr val="2D2D2D"/>
                </a:solidFill>
                <a:latin typeface="Calibri"/>
              </a:rPr>
              <a:t>SMS / WhatsApp notifications</a:t>
            </a:r>
          </a:p>
        </p:txBody>
      </p:sp>
      <p:sp>
        <p:nvSpPr>
          <p:cNvPr id="30" name="Oval 29"/>
          <p:cNvSpPr/>
          <p:nvPr/>
        </p:nvSpPr>
        <p:spPr>
          <a:xfrm>
            <a:off x="6492240" y="3986784"/>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80" y="3895344"/>
            <a:ext cx="4572000" cy="457200"/>
          </a:xfrm>
          <a:prstGeom prst="rect">
            <a:avLst/>
          </a:prstGeom>
          <a:noFill/>
        </p:spPr>
        <p:txBody>
          <a:bodyPr wrap="square">
            <a:spAutoFit/>
          </a:bodyPr>
          <a:lstStyle/>
          <a:p>
            <a:pPr algn="l"/>
            <a:r>
              <a:rPr sz="1500" b="0" i="0">
                <a:solidFill>
                  <a:srgbClr val="2D2D2D"/>
                </a:solidFill>
                <a:latin typeface="Calibri"/>
              </a:rPr>
              <a:t>Admin dashboards &amp; enrolment analytics</a:t>
            </a:r>
          </a:p>
        </p:txBody>
      </p:sp>
      <p:sp>
        <p:nvSpPr>
          <p:cNvPr id="32" name="Oval 31"/>
          <p:cNvSpPr/>
          <p:nvPr/>
        </p:nvSpPr>
        <p:spPr>
          <a:xfrm>
            <a:off x="6492240" y="4553712"/>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12280" y="4462272"/>
            <a:ext cx="4572000" cy="457200"/>
          </a:xfrm>
          <a:prstGeom prst="rect">
            <a:avLst/>
          </a:prstGeom>
          <a:noFill/>
        </p:spPr>
        <p:txBody>
          <a:bodyPr wrap="square">
            <a:spAutoFit/>
          </a:bodyPr>
          <a:lstStyle/>
          <a:p>
            <a:pPr algn="l"/>
            <a:r>
              <a:rPr sz="1500" b="0" i="0">
                <a:solidFill>
                  <a:srgbClr val="2D2D2D"/>
                </a:solidFill>
                <a:latin typeface="Calibri"/>
              </a:rPr>
              <a:t>Automated NCHE-aligned reporting</a:t>
            </a:r>
          </a:p>
        </p:txBody>
      </p:sp>
      <p:sp>
        <p:nvSpPr>
          <p:cNvPr id="34" name="Oval 33"/>
          <p:cNvSpPr/>
          <p:nvPr/>
        </p:nvSpPr>
        <p:spPr>
          <a:xfrm>
            <a:off x="6492240" y="5120640"/>
            <a:ext cx="101600" cy="10160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12280" y="5029200"/>
            <a:ext cx="4572000" cy="457200"/>
          </a:xfrm>
          <a:prstGeom prst="rect">
            <a:avLst/>
          </a:prstGeom>
          <a:noFill/>
        </p:spPr>
        <p:txBody>
          <a:bodyPr wrap="square">
            <a:spAutoFit/>
          </a:bodyPr>
          <a:lstStyle/>
          <a:p>
            <a:pPr algn="l"/>
            <a:r>
              <a:rPr sz="1500" b="0" i="0">
                <a:solidFill>
                  <a:srgbClr val="2D2D2D"/>
                </a:solidFill>
                <a:latin typeface="Calibri"/>
              </a:rPr>
              <a:t>Student performance trend analysis</a:t>
            </a:r>
          </a:p>
        </p:txBody>
      </p:sp>
      <p:sp>
        <p:nvSpPr>
          <p:cNvPr id="36" name="Rectangle 35"/>
          <p:cNvSpPr/>
          <p:nvPr/>
        </p:nvSpPr>
        <p:spPr>
          <a:xfrm>
            <a:off x="6080760" y="2148840"/>
            <a:ext cx="19050" cy="347472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22960" y="5760720"/>
            <a:ext cx="10545775" cy="45720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97280" y="5788152"/>
            <a:ext cx="9997135" cy="411480"/>
          </a:xfrm>
          <a:prstGeom prst="rect">
            <a:avLst/>
          </a:prstGeom>
          <a:noFill/>
        </p:spPr>
        <p:txBody>
          <a:bodyPr wrap="square">
            <a:spAutoFit/>
          </a:bodyPr>
          <a:lstStyle/>
          <a:p>
            <a:pPr algn="ctr"/>
            <a:r>
              <a:rPr sz="1200" b="0" i="1">
                <a:solidFill>
                  <a:srgbClr val="888888"/>
                </a:solidFill>
                <a:latin typeface="Calibri"/>
              </a:rPr>
              <a:t>Custom integrations will be developed specifically for MRU’s workflows and NCHE requirements.</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12/18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Why Cloud VPS — Not a Local Server</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645920"/>
            <a:ext cx="2834640" cy="4114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64208"/>
            <a:ext cx="2834640" cy="411480"/>
          </a:xfrm>
          <a:prstGeom prst="rect">
            <a:avLst/>
          </a:prstGeom>
          <a:noFill/>
        </p:spPr>
        <p:txBody>
          <a:bodyPr wrap="square">
            <a:spAutoFit/>
          </a:bodyPr>
          <a:lstStyle/>
          <a:p>
            <a:pPr algn="ctr"/>
            <a:r>
              <a:rPr sz="1400" b="1" i="0">
                <a:solidFill>
                  <a:srgbClr val="FFFFFF"/>
                </a:solidFill>
                <a:latin typeface="Calibri"/>
              </a:rPr>
              <a:t>Factor</a:t>
            </a:r>
          </a:p>
        </p:txBody>
      </p:sp>
      <p:sp>
        <p:nvSpPr>
          <p:cNvPr id="10" name="Rectangle 9"/>
          <p:cNvSpPr/>
          <p:nvPr/>
        </p:nvSpPr>
        <p:spPr>
          <a:xfrm>
            <a:off x="3749039" y="1645920"/>
            <a:ext cx="4023360" cy="41148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49039" y="1664208"/>
            <a:ext cx="4023360" cy="411480"/>
          </a:xfrm>
          <a:prstGeom prst="rect">
            <a:avLst/>
          </a:prstGeom>
          <a:noFill/>
        </p:spPr>
        <p:txBody>
          <a:bodyPr wrap="square">
            <a:spAutoFit/>
          </a:bodyPr>
          <a:lstStyle/>
          <a:p>
            <a:pPr algn="ctr"/>
            <a:r>
              <a:rPr sz="1400" b="1" i="0">
                <a:solidFill>
                  <a:srgbClr val="FFFFFF"/>
                </a:solidFill>
                <a:latin typeface="Calibri"/>
              </a:rPr>
              <a:t>Local Server  (Current)</a:t>
            </a:r>
          </a:p>
        </p:txBody>
      </p:sp>
      <p:sp>
        <p:nvSpPr>
          <p:cNvPr id="12" name="Rectangle 11"/>
          <p:cNvSpPr/>
          <p:nvPr/>
        </p:nvSpPr>
        <p:spPr>
          <a:xfrm>
            <a:off x="7863840" y="1645920"/>
            <a:ext cx="3566160" cy="411480"/>
          </a:xfrm>
          <a:prstGeom prst="rect">
            <a:avLst/>
          </a:prstGeom>
          <a:solidFill>
            <a:srgbClr val="1E8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63840" y="1664208"/>
            <a:ext cx="3566160" cy="411480"/>
          </a:xfrm>
          <a:prstGeom prst="rect">
            <a:avLst/>
          </a:prstGeom>
          <a:noFill/>
        </p:spPr>
        <p:txBody>
          <a:bodyPr wrap="square">
            <a:spAutoFit/>
          </a:bodyPr>
          <a:lstStyle/>
          <a:p>
            <a:pPr algn="ctr"/>
            <a:r>
              <a:rPr sz="1400" b="1" i="0">
                <a:solidFill>
                  <a:srgbClr val="FFFFFF"/>
                </a:solidFill>
                <a:latin typeface="Calibri"/>
              </a:rPr>
              <a:t>Cloud VPS  (Proposed)</a:t>
            </a:r>
          </a:p>
        </p:txBody>
      </p:sp>
      <p:sp>
        <p:nvSpPr>
          <p:cNvPr id="14" name="Rectangle 13"/>
          <p:cNvSpPr/>
          <p:nvPr/>
        </p:nvSpPr>
        <p:spPr>
          <a:xfrm>
            <a:off x="822960" y="2130552"/>
            <a:ext cx="283464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749039" y="2130552"/>
            <a:ext cx="40233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63840" y="2130552"/>
            <a:ext cx="35661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2203704"/>
            <a:ext cx="2560320" cy="502920"/>
          </a:xfrm>
          <a:prstGeom prst="rect">
            <a:avLst/>
          </a:prstGeom>
          <a:noFill/>
        </p:spPr>
        <p:txBody>
          <a:bodyPr wrap="square">
            <a:spAutoFit/>
          </a:bodyPr>
          <a:lstStyle/>
          <a:p>
            <a:pPr algn="l"/>
            <a:r>
              <a:rPr sz="1300" b="1" i="0">
                <a:solidFill>
                  <a:srgbClr val="0A1F44"/>
                </a:solidFill>
                <a:latin typeface="Calibri"/>
              </a:rPr>
              <a:t>Uptime</a:t>
            </a:r>
          </a:p>
        </p:txBody>
      </p:sp>
      <p:sp>
        <p:nvSpPr>
          <p:cNvPr id="18" name="TextBox 17"/>
          <p:cNvSpPr txBox="1"/>
          <p:nvPr/>
        </p:nvSpPr>
        <p:spPr>
          <a:xfrm>
            <a:off x="3886199" y="2176272"/>
            <a:ext cx="3749040" cy="548640"/>
          </a:xfrm>
          <a:prstGeom prst="rect">
            <a:avLst/>
          </a:prstGeom>
          <a:noFill/>
        </p:spPr>
        <p:txBody>
          <a:bodyPr wrap="square">
            <a:spAutoFit/>
          </a:bodyPr>
          <a:lstStyle/>
          <a:p>
            <a:pPr algn="l"/>
            <a:r>
              <a:rPr sz="1100" b="0" i="0">
                <a:solidFill>
                  <a:srgbClr val="2D2D2D"/>
                </a:solidFill>
                <a:latin typeface="Calibri"/>
              </a:rPr>
              <a:t>Power cuts, hardware failure.
Currently 0% uptime.</a:t>
            </a:r>
          </a:p>
        </p:txBody>
      </p:sp>
      <p:sp>
        <p:nvSpPr>
          <p:cNvPr id="19" name="TextBox 18"/>
          <p:cNvSpPr txBox="1"/>
          <p:nvPr/>
        </p:nvSpPr>
        <p:spPr>
          <a:xfrm>
            <a:off x="8001000" y="2176272"/>
            <a:ext cx="3291840" cy="548640"/>
          </a:xfrm>
          <a:prstGeom prst="rect">
            <a:avLst/>
          </a:prstGeom>
          <a:noFill/>
        </p:spPr>
        <p:txBody>
          <a:bodyPr wrap="square">
            <a:spAutoFit/>
          </a:bodyPr>
          <a:lstStyle/>
          <a:p>
            <a:pPr algn="l"/>
            <a:r>
              <a:rPr sz="1100" b="0" i="0">
                <a:solidFill>
                  <a:srgbClr val="2D2D2D"/>
                </a:solidFill>
                <a:latin typeface="Calibri"/>
              </a:rPr>
              <a:t>99.9% guaranteed.
24/7 professional monitoring.</a:t>
            </a:r>
          </a:p>
        </p:txBody>
      </p:sp>
      <p:sp>
        <p:nvSpPr>
          <p:cNvPr id="20" name="Rectangle 19"/>
          <p:cNvSpPr/>
          <p:nvPr/>
        </p:nvSpPr>
        <p:spPr>
          <a:xfrm>
            <a:off x="822960" y="2788920"/>
            <a:ext cx="28346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749039" y="2788920"/>
            <a:ext cx="40233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863840" y="2788920"/>
            <a:ext cx="35661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0120" y="2862072"/>
            <a:ext cx="2560320" cy="502920"/>
          </a:xfrm>
          <a:prstGeom prst="rect">
            <a:avLst/>
          </a:prstGeom>
          <a:noFill/>
        </p:spPr>
        <p:txBody>
          <a:bodyPr wrap="square">
            <a:spAutoFit/>
          </a:bodyPr>
          <a:lstStyle/>
          <a:p>
            <a:pPr algn="l"/>
            <a:r>
              <a:rPr sz="1300" b="1" i="0">
                <a:solidFill>
                  <a:srgbClr val="0A1F44"/>
                </a:solidFill>
                <a:latin typeface="Calibri"/>
              </a:rPr>
              <a:t>Maintenance</a:t>
            </a:r>
          </a:p>
        </p:txBody>
      </p:sp>
      <p:sp>
        <p:nvSpPr>
          <p:cNvPr id="24" name="TextBox 23"/>
          <p:cNvSpPr txBox="1"/>
          <p:nvPr/>
        </p:nvSpPr>
        <p:spPr>
          <a:xfrm>
            <a:off x="3886199" y="2834640"/>
            <a:ext cx="3749040" cy="548640"/>
          </a:xfrm>
          <a:prstGeom prst="rect">
            <a:avLst/>
          </a:prstGeom>
          <a:noFill/>
        </p:spPr>
        <p:txBody>
          <a:bodyPr wrap="square">
            <a:spAutoFit/>
          </a:bodyPr>
          <a:lstStyle/>
          <a:p>
            <a:pPr algn="l"/>
            <a:r>
              <a:rPr sz="1100" b="0" i="0">
                <a:solidFill>
                  <a:srgbClr val="2D2D2D"/>
                </a:solidFill>
                <a:latin typeface="Calibri"/>
              </a:rPr>
              <a:t>On-site IT staff, spare
parts, cooling systems.</a:t>
            </a:r>
          </a:p>
        </p:txBody>
      </p:sp>
      <p:sp>
        <p:nvSpPr>
          <p:cNvPr id="25" name="TextBox 24"/>
          <p:cNvSpPr txBox="1"/>
          <p:nvPr/>
        </p:nvSpPr>
        <p:spPr>
          <a:xfrm>
            <a:off x="8001000" y="2834640"/>
            <a:ext cx="3291840" cy="548640"/>
          </a:xfrm>
          <a:prstGeom prst="rect">
            <a:avLst/>
          </a:prstGeom>
          <a:noFill/>
        </p:spPr>
        <p:txBody>
          <a:bodyPr wrap="square">
            <a:spAutoFit/>
          </a:bodyPr>
          <a:lstStyle/>
          <a:p>
            <a:pPr algn="l"/>
            <a:r>
              <a:rPr sz="1100" b="0" i="0">
                <a:solidFill>
                  <a:srgbClr val="2D2D2D"/>
                </a:solidFill>
                <a:latin typeface="Calibri"/>
              </a:rPr>
              <a:t>Managed by provider.
Minimal in-house burden.</a:t>
            </a:r>
          </a:p>
        </p:txBody>
      </p:sp>
      <p:sp>
        <p:nvSpPr>
          <p:cNvPr id="26" name="Rectangle 25"/>
          <p:cNvSpPr/>
          <p:nvPr/>
        </p:nvSpPr>
        <p:spPr>
          <a:xfrm>
            <a:off x="822960" y="3447288"/>
            <a:ext cx="283464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749039" y="3447288"/>
            <a:ext cx="40233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863840" y="3447288"/>
            <a:ext cx="35661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0120" y="3520440"/>
            <a:ext cx="2560320" cy="502920"/>
          </a:xfrm>
          <a:prstGeom prst="rect">
            <a:avLst/>
          </a:prstGeom>
          <a:noFill/>
        </p:spPr>
        <p:txBody>
          <a:bodyPr wrap="square">
            <a:spAutoFit/>
          </a:bodyPr>
          <a:lstStyle/>
          <a:p>
            <a:pPr algn="l"/>
            <a:r>
              <a:rPr sz="1300" b="1" i="0">
                <a:solidFill>
                  <a:srgbClr val="0A1F44"/>
                </a:solidFill>
                <a:latin typeface="Calibri"/>
              </a:rPr>
              <a:t>Security</a:t>
            </a:r>
          </a:p>
        </p:txBody>
      </p:sp>
      <p:sp>
        <p:nvSpPr>
          <p:cNvPr id="30" name="TextBox 29"/>
          <p:cNvSpPr txBox="1"/>
          <p:nvPr/>
        </p:nvSpPr>
        <p:spPr>
          <a:xfrm>
            <a:off x="3886199" y="3493008"/>
            <a:ext cx="3749040" cy="548640"/>
          </a:xfrm>
          <a:prstGeom prst="rect">
            <a:avLst/>
          </a:prstGeom>
          <a:noFill/>
        </p:spPr>
        <p:txBody>
          <a:bodyPr wrap="square">
            <a:spAutoFit/>
          </a:bodyPr>
          <a:lstStyle/>
          <a:p>
            <a:pPr algn="l"/>
            <a:r>
              <a:rPr sz="1100" b="0" i="0">
                <a:solidFill>
                  <a:srgbClr val="2D2D2D"/>
                </a:solidFill>
                <a:latin typeface="Calibri"/>
              </a:rPr>
              <a:t>Vulnerable to physical
damage, theft, attacks.</a:t>
            </a:r>
          </a:p>
        </p:txBody>
      </p:sp>
      <p:sp>
        <p:nvSpPr>
          <p:cNvPr id="31" name="TextBox 30"/>
          <p:cNvSpPr txBox="1"/>
          <p:nvPr/>
        </p:nvSpPr>
        <p:spPr>
          <a:xfrm>
            <a:off x="8001000" y="3493008"/>
            <a:ext cx="3291840" cy="548640"/>
          </a:xfrm>
          <a:prstGeom prst="rect">
            <a:avLst/>
          </a:prstGeom>
          <a:noFill/>
        </p:spPr>
        <p:txBody>
          <a:bodyPr wrap="square">
            <a:spAutoFit/>
          </a:bodyPr>
          <a:lstStyle/>
          <a:p>
            <a:pPr algn="l"/>
            <a:r>
              <a:rPr sz="1100" b="0" i="0">
                <a:solidFill>
                  <a:srgbClr val="2D2D2D"/>
                </a:solidFill>
                <a:latin typeface="Calibri"/>
              </a:rPr>
              <a:t>Enterprise firewalls, SSL,
automated security patches.</a:t>
            </a:r>
          </a:p>
        </p:txBody>
      </p:sp>
      <p:sp>
        <p:nvSpPr>
          <p:cNvPr id="32" name="Rectangle 31"/>
          <p:cNvSpPr/>
          <p:nvPr/>
        </p:nvSpPr>
        <p:spPr>
          <a:xfrm>
            <a:off x="822960" y="4105656"/>
            <a:ext cx="28346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749039" y="4105656"/>
            <a:ext cx="40233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863840" y="4105656"/>
            <a:ext cx="35661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4178808"/>
            <a:ext cx="2560320" cy="502920"/>
          </a:xfrm>
          <a:prstGeom prst="rect">
            <a:avLst/>
          </a:prstGeom>
          <a:noFill/>
        </p:spPr>
        <p:txBody>
          <a:bodyPr wrap="square">
            <a:spAutoFit/>
          </a:bodyPr>
          <a:lstStyle/>
          <a:p>
            <a:pPr algn="l"/>
            <a:r>
              <a:rPr sz="1300" b="1" i="0">
                <a:solidFill>
                  <a:srgbClr val="0A1F44"/>
                </a:solidFill>
                <a:latin typeface="Calibri"/>
              </a:rPr>
              <a:t>Scalability</a:t>
            </a:r>
          </a:p>
        </p:txBody>
      </p:sp>
      <p:sp>
        <p:nvSpPr>
          <p:cNvPr id="36" name="TextBox 35"/>
          <p:cNvSpPr txBox="1"/>
          <p:nvPr/>
        </p:nvSpPr>
        <p:spPr>
          <a:xfrm>
            <a:off x="3886199" y="4151376"/>
            <a:ext cx="3749040" cy="548640"/>
          </a:xfrm>
          <a:prstGeom prst="rect">
            <a:avLst/>
          </a:prstGeom>
          <a:noFill/>
        </p:spPr>
        <p:txBody>
          <a:bodyPr wrap="square">
            <a:spAutoFit/>
          </a:bodyPr>
          <a:lstStyle/>
          <a:p>
            <a:pPr algn="l"/>
            <a:r>
              <a:rPr sz="1100" b="0" i="0">
                <a:solidFill>
                  <a:srgbClr val="2D2D2D"/>
                </a:solidFill>
                <a:latin typeface="Calibri"/>
              </a:rPr>
              <a:t>Fixed capacity. Upgrade
requires new hardware.</a:t>
            </a:r>
          </a:p>
        </p:txBody>
      </p:sp>
      <p:sp>
        <p:nvSpPr>
          <p:cNvPr id="37" name="TextBox 36"/>
          <p:cNvSpPr txBox="1"/>
          <p:nvPr/>
        </p:nvSpPr>
        <p:spPr>
          <a:xfrm>
            <a:off x="8001000" y="4151376"/>
            <a:ext cx="3291840" cy="548640"/>
          </a:xfrm>
          <a:prstGeom prst="rect">
            <a:avLst/>
          </a:prstGeom>
          <a:noFill/>
        </p:spPr>
        <p:txBody>
          <a:bodyPr wrap="square">
            <a:spAutoFit/>
          </a:bodyPr>
          <a:lstStyle/>
          <a:p>
            <a:pPr algn="l"/>
            <a:r>
              <a:rPr sz="1100" b="0" i="0">
                <a:solidFill>
                  <a:srgbClr val="2D2D2D"/>
                </a:solidFill>
                <a:latin typeface="Calibri"/>
              </a:rPr>
              <a:t>Scale up/down instantly
based on student demand.</a:t>
            </a:r>
          </a:p>
        </p:txBody>
      </p:sp>
      <p:sp>
        <p:nvSpPr>
          <p:cNvPr id="38" name="Rectangle 37"/>
          <p:cNvSpPr/>
          <p:nvPr/>
        </p:nvSpPr>
        <p:spPr>
          <a:xfrm>
            <a:off x="822960" y="4764024"/>
            <a:ext cx="283464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749039" y="4764024"/>
            <a:ext cx="40233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863840" y="4764024"/>
            <a:ext cx="3566160" cy="62179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4837176"/>
            <a:ext cx="2560320" cy="502920"/>
          </a:xfrm>
          <a:prstGeom prst="rect">
            <a:avLst/>
          </a:prstGeom>
          <a:noFill/>
        </p:spPr>
        <p:txBody>
          <a:bodyPr wrap="square">
            <a:spAutoFit/>
          </a:bodyPr>
          <a:lstStyle/>
          <a:p>
            <a:pPr algn="l"/>
            <a:r>
              <a:rPr sz="1300" b="1" i="0">
                <a:solidFill>
                  <a:srgbClr val="0A1F44"/>
                </a:solidFill>
                <a:latin typeface="Calibri"/>
              </a:rPr>
              <a:t>Disaster Recovery</a:t>
            </a:r>
          </a:p>
        </p:txBody>
      </p:sp>
      <p:sp>
        <p:nvSpPr>
          <p:cNvPr id="42" name="TextBox 41"/>
          <p:cNvSpPr txBox="1"/>
          <p:nvPr/>
        </p:nvSpPr>
        <p:spPr>
          <a:xfrm>
            <a:off x="3886199" y="4809744"/>
            <a:ext cx="3749040" cy="548640"/>
          </a:xfrm>
          <a:prstGeom prst="rect">
            <a:avLst/>
          </a:prstGeom>
          <a:noFill/>
        </p:spPr>
        <p:txBody>
          <a:bodyPr wrap="square">
            <a:spAutoFit/>
          </a:bodyPr>
          <a:lstStyle/>
          <a:p>
            <a:pPr algn="l"/>
            <a:r>
              <a:rPr sz="1100" b="0" i="0">
                <a:solidFill>
                  <a:srgbClr val="2D2D2D"/>
                </a:solidFill>
                <a:latin typeface="Calibri"/>
              </a:rPr>
              <a:t>No automated backups.
HIGH data loss risk.</a:t>
            </a:r>
          </a:p>
        </p:txBody>
      </p:sp>
      <p:sp>
        <p:nvSpPr>
          <p:cNvPr id="43" name="TextBox 42"/>
          <p:cNvSpPr txBox="1"/>
          <p:nvPr/>
        </p:nvSpPr>
        <p:spPr>
          <a:xfrm>
            <a:off x="8001000" y="4809744"/>
            <a:ext cx="3291840" cy="548640"/>
          </a:xfrm>
          <a:prstGeom prst="rect">
            <a:avLst/>
          </a:prstGeom>
          <a:noFill/>
        </p:spPr>
        <p:txBody>
          <a:bodyPr wrap="square">
            <a:spAutoFit/>
          </a:bodyPr>
          <a:lstStyle/>
          <a:p>
            <a:pPr algn="l"/>
            <a:r>
              <a:rPr sz="1100" b="0" i="0">
                <a:solidFill>
                  <a:srgbClr val="2D2D2D"/>
                </a:solidFill>
                <a:latin typeface="Calibri"/>
              </a:rPr>
              <a:t>Daily automated backups.
Geographic redundancy.</a:t>
            </a:r>
          </a:p>
        </p:txBody>
      </p:sp>
      <p:sp>
        <p:nvSpPr>
          <p:cNvPr id="44" name="Rectangle 43"/>
          <p:cNvSpPr/>
          <p:nvPr/>
        </p:nvSpPr>
        <p:spPr>
          <a:xfrm>
            <a:off x="822960" y="5422391"/>
            <a:ext cx="28346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3749039" y="5422391"/>
            <a:ext cx="40233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863840" y="5422391"/>
            <a:ext cx="356616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0120" y="5495543"/>
            <a:ext cx="2560320" cy="502920"/>
          </a:xfrm>
          <a:prstGeom prst="rect">
            <a:avLst/>
          </a:prstGeom>
          <a:noFill/>
        </p:spPr>
        <p:txBody>
          <a:bodyPr wrap="square">
            <a:spAutoFit/>
          </a:bodyPr>
          <a:lstStyle/>
          <a:p>
            <a:pPr algn="l"/>
            <a:r>
              <a:rPr sz="1300" b="1" i="0">
                <a:solidFill>
                  <a:srgbClr val="0A1F44"/>
                </a:solidFill>
                <a:latin typeface="Calibri"/>
              </a:rPr>
              <a:t>3-Year Cost</a:t>
            </a:r>
          </a:p>
        </p:txBody>
      </p:sp>
      <p:sp>
        <p:nvSpPr>
          <p:cNvPr id="48" name="TextBox 47"/>
          <p:cNvSpPr txBox="1"/>
          <p:nvPr/>
        </p:nvSpPr>
        <p:spPr>
          <a:xfrm>
            <a:off x="3886199" y="5468111"/>
            <a:ext cx="3749040" cy="548640"/>
          </a:xfrm>
          <a:prstGeom prst="rect">
            <a:avLst/>
          </a:prstGeom>
          <a:noFill/>
        </p:spPr>
        <p:txBody>
          <a:bodyPr wrap="square">
            <a:spAutoFit/>
          </a:bodyPr>
          <a:lstStyle/>
          <a:p>
            <a:pPr algn="l"/>
            <a:r>
              <a:rPr sz="1100" b="0" i="0">
                <a:solidFill>
                  <a:srgbClr val="2D2D2D"/>
                </a:solidFill>
                <a:latin typeface="Calibri"/>
              </a:rPr>
              <a:t>High: hardware + power
+ cooling + staff + repairs.</a:t>
            </a:r>
          </a:p>
        </p:txBody>
      </p:sp>
      <p:sp>
        <p:nvSpPr>
          <p:cNvPr id="49" name="TextBox 48"/>
          <p:cNvSpPr txBox="1"/>
          <p:nvPr/>
        </p:nvSpPr>
        <p:spPr>
          <a:xfrm>
            <a:off x="8001000" y="5468111"/>
            <a:ext cx="3291840" cy="548640"/>
          </a:xfrm>
          <a:prstGeom prst="rect">
            <a:avLst/>
          </a:prstGeom>
          <a:noFill/>
        </p:spPr>
        <p:txBody>
          <a:bodyPr wrap="square">
            <a:spAutoFit/>
          </a:bodyPr>
          <a:lstStyle/>
          <a:p>
            <a:pPr algn="l"/>
            <a:r>
              <a:rPr sz="1100" b="0" i="0">
                <a:solidFill>
                  <a:srgbClr val="2D2D2D"/>
                </a:solidFill>
                <a:latin typeface="Calibri"/>
              </a:rPr>
              <a:t>Lower TCO. Predictable
pay-as-you-grow pricing.</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13/18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Ensuring Adoption — Institutional Policies</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45775" cy="548640"/>
          </a:xfrm>
          <a:prstGeom prst="rect">
            <a:avLst/>
          </a:prstGeom>
          <a:noFill/>
        </p:spPr>
        <p:txBody>
          <a:bodyPr wrap="square">
            <a:spAutoFit/>
          </a:bodyPr>
          <a:lstStyle/>
          <a:p>
            <a:pPr algn="l"/>
            <a:r>
              <a:rPr sz="1700" b="0" i="1">
                <a:solidFill>
                  <a:srgbClr val="888888"/>
                </a:solidFill>
                <a:latin typeface="Calibri"/>
              </a:rPr>
              <a:t>Technology succeeds only when people use it. The following realistic, phased policies will drive adoption across MRU without being unreasonably rigid.</a:t>
            </a:r>
          </a:p>
        </p:txBody>
      </p:sp>
      <p:sp>
        <p:nvSpPr>
          <p:cNvPr id="9" name="Rectangle 8"/>
          <p:cNvSpPr/>
          <p:nvPr/>
        </p:nvSpPr>
        <p:spPr>
          <a:xfrm>
            <a:off x="822960" y="2148840"/>
            <a:ext cx="365760" cy="36576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157984"/>
            <a:ext cx="365760" cy="347472"/>
          </a:xfrm>
          <a:prstGeom prst="rect">
            <a:avLst/>
          </a:prstGeom>
          <a:noFill/>
        </p:spPr>
        <p:txBody>
          <a:bodyPr wrap="square">
            <a:spAutoFit/>
          </a:bodyPr>
          <a:lstStyle/>
          <a:p>
            <a:pPr algn="ctr"/>
            <a:r>
              <a:rPr sz="1600" b="1" i="0">
                <a:solidFill>
                  <a:srgbClr val="C89616"/>
                </a:solidFill>
                <a:latin typeface="Calibri"/>
              </a:rPr>
              <a:t>1</a:t>
            </a:r>
          </a:p>
        </p:txBody>
      </p:sp>
      <p:sp>
        <p:nvSpPr>
          <p:cNvPr id="11" name="TextBox 10"/>
          <p:cNvSpPr txBox="1"/>
          <p:nvPr/>
        </p:nvSpPr>
        <p:spPr>
          <a:xfrm>
            <a:off x="1325880" y="2148840"/>
            <a:ext cx="3200400" cy="365760"/>
          </a:xfrm>
          <a:prstGeom prst="rect">
            <a:avLst/>
          </a:prstGeom>
          <a:noFill/>
        </p:spPr>
        <p:txBody>
          <a:bodyPr wrap="square">
            <a:spAutoFit/>
          </a:bodyPr>
          <a:lstStyle/>
          <a:p>
            <a:pPr algn="l"/>
            <a:r>
              <a:rPr sz="1500" b="1" i="0">
                <a:solidFill>
                  <a:srgbClr val="0A1F44"/>
                </a:solidFill>
                <a:latin typeface="Calibri"/>
              </a:rPr>
              <a:t>Compulsory Assignment Submission</a:t>
            </a:r>
          </a:p>
        </p:txBody>
      </p:sp>
      <p:sp>
        <p:nvSpPr>
          <p:cNvPr id="12" name="TextBox 11"/>
          <p:cNvSpPr txBox="1"/>
          <p:nvPr/>
        </p:nvSpPr>
        <p:spPr>
          <a:xfrm>
            <a:off x="1325880" y="2468880"/>
            <a:ext cx="9905695" cy="502920"/>
          </a:xfrm>
          <a:prstGeom prst="rect">
            <a:avLst/>
          </a:prstGeom>
          <a:noFill/>
        </p:spPr>
        <p:txBody>
          <a:bodyPr wrap="square">
            <a:spAutoFit/>
          </a:bodyPr>
          <a:lstStyle/>
          <a:p>
            <a:pPr algn="l"/>
            <a:r>
              <a:rPr sz="1200" b="0" i="0">
                <a:solidFill>
                  <a:srgbClr val="2D2D2D"/>
                </a:solidFill>
                <a:latin typeface="Calibri"/>
              </a:rPr>
              <a:t>All coursework assignments must be submitted through the ODeL platform. This ensures every student and lecturer interacts with the system regularly and creates a verifiable digital record of academic work.</a:t>
            </a:r>
          </a:p>
        </p:txBody>
      </p:sp>
      <p:sp>
        <p:nvSpPr>
          <p:cNvPr id="13" name="Rectangle 12"/>
          <p:cNvSpPr/>
          <p:nvPr/>
        </p:nvSpPr>
        <p:spPr>
          <a:xfrm>
            <a:off x="822960" y="3035808"/>
            <a:ext cx="365760" cy="36576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044952"/>
            <a:ext cx="365760" cy="347472"/>
          </a:xfrm>
          <a:prstGeom prst="rect">
            <a:avLst/>
          </a:prstGeom>
          <a:noFill/>
        </p:spPr>
        <p:txBody>
          <a:bodyPr wrap="square">
            <a:spAutoFit/>
          </a:bodyPr>
          <a:lstStyle/>
          <a:p>
            <a:pPr algn="ctr"/>
            <a:r>
              <a:rPr sz="1600" b="1" i="0">
                <a:solidFill>
                  <a:srgbClr val="C89616"/>
                </a:solidFill>
                <a:latin typeface="Calibri"/>
              </a:rPr>
              <a:t>2</a:t>
            </a:r>
          </a:p>
        </p:txBody>
      </p:sp>
      <p:sp>
        <p:nvSpPr>
          <p:cNvPr id="15" name="TextBox 14"/>
          <p:cNvSpPr txBox="1"/>
          <p:nvPr/>
        </p:nvSpPr>
        <p:spPr>
          <a:xfrm>
            <a:off x="1325880" y="3035808"/>
            <a:ext cx="3200400" cy="365760"/>
          </a:xfrm>
          <a:prstGeom prst="rect">
            <a:avLst/>
          </a:prstGeom>
          <a:noFill/>
        </p:spPr>
        <p:txBody>
          <a:bodyPr wrap="square">
            <a:spAutoFit/>
          </a:bodyPr>
          <a:lstStyle/>
          <a:p>
            <a:pPr algn="l"/>
            <a:r>
              <a:rPr sz="1500" b="1" i="0">
                <a:solidFill>
                  <a:srgbClr val="0A1F44"/>
                </a:solidFill>
                <a:latin typeface="Calibri"/>
              </a:rPr>
              <a:t>Lecture Materials Upload Requirement</a:t>
            </a:r>
          </a:p>
        </p:txBody>
      </p:sp>
      <p:sp>
        <p:nvSpPr>
          <p:cNvPr id="16" name="TextBox 15"/>
          <p:cNvSpPr txBox="1"/>
          <p:nvPr/>
        </p:nvSpPr>
        <p:spPr>
          <a:xfrm>
            <a:off x="1325880" y="3355848"/>
            <a:ext cx="9905695" cy="502920"/>
          </a:xfrm>
          <a:prstGeom prst="rect">
            <a:avLst/>
          </a:prstGeom>
          <a:noFill/>
        </p:spPr>
        <p:txBody>
          <a:bodyPr wrap="square">
            <a:spAutoFit/>
          </a:bodyPr>
          <a:lstStyle/>
          <a:p>
            <a:pPr algn="l"/>
            <a:r>
              <a:rPr sz="1200" b="0" i="0">
                <a:solidFill>
                  <a:srgbClr val="2D2D2D"/>
                </a:solidFill>
                <a:latin typeface="Calibri"/>
              </a:rPr>
              <a:t>Lecturers must upload course outlines, reading materials, and lecture notes to the platform at the start of each semester. This makes the system the single source of truth for all course content.</a:t>
            </a:r>
          </a:p>
        </p:txBody>
      </p:sp>
      <p:sp>
        <p:nvSpPr>
          <p:cNvPr id="17" name="Rectangle 16"/>
          <p:cNvSpPr/>
          <p:nvPr/>
        </p:nvSpPr>
        <p:spPr>
          <a:xfrm>
            <a:off x="822960" y="3922776"/>
            <a:ext cx="365760" cy="36576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31920"/>
            <a:ext cx="365760" cy="347472"/>
          </a:xfrm>
          <a:prstGeom prst="rect">
            <a:avLst/>
          </a:prstGeom>
          <a:noFill/>
        </p:spPr>
        <p:txBody>
          <a:bodyPr wrap="square">
            <a:spAutoFit/>
          </a:bodyPr>
          <a:lstStyle/>
          <a:p>
            <a:pPr algn="ctr"/>
            <a:r>
              <a:rPr sz="1600" b="1" i="0">
                <a:solidFill>
                  <a:srgbClr val="C89616"/>
                </a:solidFill>
                <a:latin typeface="Calibri"/>
              </a:rPr>
              <a:t>3</a:t>
            </a:r>
          </a:p>
        </p:txBody>
      </p:sp>
      <p:sp>
        <p:nvSpPr>
          <p:cNvPr id="19" name="TextBox 18"/>
          <p:cNvSpPr txBox="1"/>
          <p:nvPr/>
        </p:nvSpPr>
        <p:spPr>
          <a:xfrm>
            <a:off x="1325880" y="3922776"/>
            <a:ext cx="3200400" cy="365760"/>
          </a:xfrm>
          <a:prstGeom prst="rect">
            <a:avLst/>
          </a:prstGeom>
          <a:noFill/>
        </p:spPr>
        <p:txBody>
          <a:bodyPr wrap="square">
            <a:spAutoFit/>
          </a:bodyPr>
          <a:lstStyle/>
          <a:p>
            <a:pPr algn="l"/>
            <a:r>
              <a:rPr sz="1500" b="1" i="0">
                <a:solidFill>
                  <a:srgbClr val="0A1F44"/>
                </a:solidFill>
                <a:latin typeface="Calibri"/>
              </a:rPr>
              <a:t>Online Grade Publication</a:t>
            </a:r>
          </a:p>
        </p:txBody>
      </p:sp>
      <p:sp>
        <p:nvSpPr>
          <p:cNvPr id="20" name="TextBox 19"/>
          <p:cNvSpPr txBox="1"/>
          <p:nvPr/>
        </p:nvSpPr>
        <p:spPr>
          <a:xfrm>
            <a:off x="1325880" y="4242816"/>
            <a:ext cx="9905695" cy="502920"/>
          </a:xfrm>
          <a:prstGeom prst="rect">
            <a:avLst/>
          </a:prstGeom>
          <a:noFill/>
        </p:spPr>
        <p:txBody>
          <a:bodyPr wrap="square">
            <a:spAutoFit/>
          </a:bodyPr>
          <a:lstStyle/>
          <a:p>
            <a:pPr algn="l"/>
            <a:r>
              <a:rPr sz="1200" b="0" i="0">
                <a:solidFill>
                  <a:srgbClr val="2D2D2D"/>
                </a:solidFill>
                <a:latin typeface="Calibri"/>
              </a:rPr>
              <a:t>All continuous assessment marks and final grades must be published through the platform. Students check results online, reducing administrative bottlenecks and paper-based processes.</a:t>
            </a:r>
          </a:p>
        </p:txBody>
      </p:sp>
      <p:sp>
        <p:nvSpPr>
          <p:cNvPr id="21" name="Rectangle 20"/>
          <p:cNvSpPr/>
          <p:nvPr/>
        </p:nvSpPr>
        <p:spPr>
          <a:xfrm>
            <a:off x="822960" y="4809744"/>
            <a:ext cx="365760" cy="36576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 y="4818888"/>
            <a:ext cx="365760" cy="347472"/>
          </a:xfrm>
          <a:prstGeom prst="rect">
            <a:avLst/>
          </a:prstGeom>
          <a:noFill/>
        </p:spPr>
        <p:txBody>
          <a:bodyPr wrap="square">
            <a:spAutoFit/>
          </a:bodyPr>
          <a:lstStyle/>
          <a:p>
            <a:pPr algn="ctr"/>
            <a:r>
              <a:rPr sz="1600" b="1" i="0">
                <a:solidFill>
                  <a:srgbClr val="C89616"/>
                </a:solidFill>
                <a:latin typeface="Calibri"/>
              </a:rPr>
              <a:t>4</a:t>
            </a:r>
          </a:p>
        </p:txBody>
      </p:sp>
      <p:sp>
        <p:nvSpPr>
          <p:cNvPr id="23" name="TextBox 22"/>
          <p:cNvSpPr txBox="1"/>
          <p:nvPr/>
        </p:nvSpPr>
        <p:spPr>
          <a:xfrm>
            <a:off x="1325880" y="4809744"/>
            <a:ext cx="3200400" cy="365760"/>
          </a:xfrm>
          <a:prstGeom prst="rect">
            <a:avLst/>
          </a:prstGeom>
          <a:noFill/>
        </p:spPr>
        <p:txBody>
          <a:bodyPr wrap="square">
            <a:spAutoFit/>
          </a:bodyPr>
          <a:lstStyle/>
          <a:p>
            <a:pPr algn="l"/>
            <a:r>
              <a:rPr sz="1500" b="1" i="0">
                <a:solidFill>
                  <a:srgbClr val="0A1F44"/>
                </a:solidFill>
                <a:latin typeface="Calibri"/>
              </a:rPr>
              <a:t>Student Course Registration via Platform</a:t>
            </a:r>
          </a:p>
        </p:txBody>
      </p:sp>
      <p:sp>
        <p:nvSpPr>
          <p:cNvPr id="24" name="TextBox 23"/>
          <p:cNvSpPr txBox="1"/>
          <p:nvPr/>
        </p:nvSpPr>
        <p:spPr>
          <a:xfrm>
            <a:off x="1325880" y="5129784"/>
            <a:ext cx="9905695" cy="502920"/>
          </a:xfrm>
          <a:prstGeom prst="rect">
            <a:avLst/>
          </a:prstGeom>
          <a:noFill/>
        </p:spPr>
        <p:txBody>
          <a:bodyPr wrap="square">
            <a:spAutoFit/>
          </a:bodyPr>
          <a:lstStyle/>
          <a:p>
            <a:pPr algn="l"/>
            <a:r>
              <a:rPr sz="1200" b="0" i="0">
                <a:solidFill>
                  <a:srgbClr val="2D2D2D"/>
                </a:solidFill>
                <a:latin typeface="Calibri"/>
              </a:rPr>
              <a:t>Course registration and enrolment for each semester should be processed through the ODeL system, ensuring all students have active accounts and are familiar with the platform from day one.</a:t>
            </a:r>
          </a:p>
        </p:txBody>
      </p:sp>
      <p:sp>
        <p:nvSpPr>
          <p:cNvPr id="25" name="Rectangle 24"/>
          <p:cNvSpPr/>
          <p:nvPr/>
        </p:nvSpPr>
        <p:spPr>
          <a:xfrm>
            <a:off x="822960" y="5696712"/>
            <a:ext cx="365760" cy="36576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5705856"/>
            <a:ext cx="365760" cy="347472"/>
          </a:xfrm>
          <a:prstGeom prst="rect">
            <a:avLst/>
          </a:prstGeom>
          <a:noFill/>
        </p:spPr>
        <p:txBody>
          <a:bodyPr wrap="square">
            <a:spAutoFit/>
          </a:bodyPr>
          <a:lstStyle/>
          <a:p>
            <a:pPr algn="ctr"/>
            <a:r>
              <a:rPr sz="1600" b="1" i="0">
                <a:solidFill>
                  <a:srgbClr val="C89616"/>
                </a:solidFill>
                <a:latin typeface="Calibri"/>
              </a:rPr>
              <a:t>5</a:t>
            </a:r>
          </a:p>
        </p:txBody>
      </p:sp>
      <p:sp>
        <p:nvSpPr>
          <p:cNvPr id="27" name="TextBox 26"/>
          <p:cNvSpPr txBox="1"/>
          <p:nvPr/>
        </p:nvSpPr>
        <p:spPr>
          <a:xfrm>
            <a:off x="1325880" y="5696712"/>
            <a:ext cx="3200400" cy="365760"/>
          </a:xfrm>
          <a:prstGeom prst="rect">
            <a:avLst/>
          </a:prstGeom>
          <a:noFill/>
        </p:spPr>
        <p:txBody>
          <a:bodyPr wrap="square">
            <a:spAutoFit/>
          </a:bodyPr>
          <a:lstStyle/>
          <a:p>
            <a:pPr algn="l"/>
            <a:r>
              <a:rPr sz="1500" b="1" i="0">
                <a:solidFill>
                  <a:srgbClr val="0A1F44"/>
                </a:solidFill>
                <a:latin typeface="Calibri"/>
              </a:rPr>
              <a:t>Blended Learning Attendance Tracking</a:t>
            </a:r>
          </a:p>
        </p:txBody>
      </p:sp>
      <p:sp>
        <p:nvSpPr>
          <p:cNvPr id="28" name="TextBox 27"/>
          <p:cNvSpPr txBox="1"/>
          <p:nvPr/>
        </p:nvSpPr>
        <p:spPr>
          <a:xfrm>
            <a:off x="1325880" y="6016752"/>
            <a:ext cx="9905695" cy="502920"/>
          </a:xfrm>
          <a:prstGeom prst="rect">
            <a:avLst/>
          </a:prstGeom>
          <a:noFill/>
        </p:spPr>
        <p:txBody>
          <a:bodyPr wrap="square">
            <a:spAutoFit/>
          </a:bodyPr>
          <a:lstStyle/>
          <a:p>
            <a:pPr algn="l"/>
            <a:r>
              <a:rPr sz="1200" b="0" i="0">
                <a:solidFill>
                  <a:srgbClr val="2D2D2D"/>
                </a:solidFill>
                <a:latin typeface="Calibri"/>
              </a:rPr>
              <a:t>For programmes using blended delivery, attendance for online sessions must be tracked via the platform’s built-in tools, ensuring accountability and enabling data-driven monitoring of student engagement.</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14/18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Implementation Roadmap — 3 Phases</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691640"/>
            <a:ext cx="3337560" cy="868680"/>
          </a:xfrm>
          <a:prstGeom prst="rect">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1737360"/>
            <a:ext cx="1371600" cy="274320"/>
          </a:xfrm>
          <a:prstGeom prst="rect">
            <a:avLst/>
          </a:prstGeom>
          <a:noFill/>
        </p:spPr>
        <p:txBody>
          <a:bodyPr wrap="square">
            <a:spAutoFit/>
          </a:bodyPr>
          <a:lstStyle/>
          <a:p>
            <a:pPr algn="l"/>
            <a:r>
              <a:rPr sz="1200" b="1" i="0">
                <a:solidFill>
                  <a:srgbClr val="E8C85A"/>
                </a:solidFill>
                <a:latin typeface="Calibri"/>
              </a:rPr>
              <a:t>PHASE 1</a:t>
            </a:r>
          </a:p>
        </p:txBody>
      </p:sp>
      <p:sp>
        <p:nvSpPr>
          <p:cNvPr id="10" name="TextBox 9"/>
          <p:cNvSpPr txBox="1"/>
          <p:nvPr/>
        </p:nvSpPr>
        <p:spPr>
          <a:xfrm>
            <a:off x="1051560" y="2011680"/>
            <a:ext cx="2286000" cy="411480"/>
          </a:xfrm>
          <a:prstGeom prst="rect">
            <a:avLst/>
          </a:prstGeom>
          <a:noFill/>
        </p:spPr>
        <p:txBody>
          <a:bodyPr wrap="square">
            <a:spAutoFit/>
          </a:bodyPr>
          <a:lstStyle/>
          <a:p>
            <a:pPr algn="l"/>
            <a:r>
              <a:rPr sz="1800" b="1" i="0">
                <a:solidFill>
                  <a:srgbClr val="FFFFFF"/>
                </a:solidFill>
                <a:latin typeface="Calibri"/>
              </a:rPr>
              <a:t>Foundation &amp; Pilot</a:t>
            </a:r>
          </a:p>
        </p:txBody>
      </p:sp>
      <p:sp>
        <p:nvSpPr>
          <p:cNvPr id="11" name="TextBox 10"/>
          <p:cNvSpPr txBox="1"/>
          <p:nvPr/>
        </p:nvSpPr>
        <p:spPr>
          <a:xfrm>
            <a:off x="2926080" y="1737360"/>
            <a:ext cx="1005840" cy="274320"/>
          </a:xfrm>
          <a:prstGeom prst="rect">
            <a:avLst/>
          </a:prstGeom>
          <a:noFill/>
        </p:spPr>
        <p:txBody>
          <a:bodyPr wrap="square">
            <a:spAutoFit/>
          </a:bodyPr>
          <a:lstStyle/>
          <a:p>
            <a:pPr algn="r"/>
            <a:r>
              <a:rPr sz="1100" b="0" i="0">
                <a:solidFill>
                  <a:srgbClr val="E8C85A"/>
                </a:solidFill>
                <a:latin typeface="Calibri"/>
              </a:rPr>
              <a:t>Months 1–3</a:t>
            </a:r>
          </a:p>
        </p:txBody>
      </p:sp>
      <p:sp>
        <p:nvSpPr>
          <p:cNvPr id="12" name="Oval 11"/>
          <p:cNvSpPr/>
          <p:nvPr/>
        </p:nvSpPr>
        <p:spPr>
          <a:xfrm>
            <a:off x="960120" y="2834640"/>
            <a:ext cx="88900" cy="88900"/>
          </a:xfrm>
          <a:prstGeom prst="ellipse">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2743200"/>
            <a:ext cx="2743200" cy="457200"/>
          </a:xfrm>
          <a:prstGeom prst="rect">
            <a:avLst/>
          </a:prstGeom>
          <a:noFill/>
        </p:spPr>
        <p:txBody>
          <a:bodyPr wrap="square">
            <a:spAutoFit/>
          </a:bodyPr>
          <a:lstStyle/>
          <a:p>
            <a:pPr algn="l"/>
            <a:r>
              <a:rPr sz="1400" b="0" i="0">
                <a:solidFill>
                  <a:srgbClr val="2D2D2D"/>
                </a:solidFill>
                <a:latin typeface="Calibri"/>
              </a:rPr>
              <a:t>Procure &amp; configure Cloud VPS</a:t>
            </a:r>
          </a:p>
        </p:txBody>
      </p:sp>
      <p:sp>
        <p:nvSpPr>
          <p:cNvPr id="14" name="Oval 13"/>
          <p:cNvSpPr/>
          <p:nvPr/>
        </p:nvSpPr>
        <p:spPr>
          <a:xfrm>
            <a:off x="960120" y="3401568"/>
            <a:ext cx="88900" cy="88900"/>
          </a:xfrm>
          <a:prstGeom prst="ellipse">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3310128"/>
            <a:ext cx="2743200" cy="457200"/>
          </a:xfrm>
          <a:prstGeom prst="rect">
            <a:avLst/>
          </a:prstGeom>
          <a:noFill/>
        </p:spPr>
        <p:txBody>
          <a:bodyPr wrap="square">
            <a:spAutoFit/>
          </a:bodyPr>
          <a:lstStyle/>
          <a:p>
            <a:pPr algn="l"/>
            <a:r>
              <a:rPr sz="1400" b="0" i="0">
                <a:solidFill>
                  <a:srgbClr val="2D2D2D"/>
                </a:solidFill>
                <a:latin typeface="Calibri"/>
              </a:rPr>
              <a:t>Install &amp; customise Moodle LMS</a:t>
            </a:r>
          </a:p>
        </p:txBody>
      </p:sp>
      <p:sp>
        <p:nvSpPr>
          <p:cNvPr id="16" name="Oval 15"/>
          <p:cNvSpPr/>
          <p:nvPr/>
        </p:nvSpPr>
        <p:spPr>
          <a:xfrm>
            <a:off x="960120" y="3968495"/>
            <a:ext cx="88900" cy="88900"/>
          </a:xfrm>
          <a:prstGeom prst="ellipse">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3877055"/>
            <a:ext cx="2743200" cy="457200"/>
          </a:xfrm>
          <a:prstGeom prst="rect">
            <a:avLst/>
          </a:prstGeom>
          <a:noFill/>
        </p:spPr>
        <p:txBody>
          <a:bodyPr wrap="square">
            <a:spAutoFit/>
          </a:bodyPr>
          <a:lstStyle/>
          <a:p>
            <a:pPr algn="l"/>
            <a:r>
              <a:rPr sz="1400" b="0" i="0">
                <a:solidFill>
                  <a:srgbClr val="2D2D2D"/>
                </a:solidFill>
                <a:latin typeface="Calibri"/>
              </a:rPr>
              <a:t>Develop custom MRU integrations</a:t>
            </a:r>
          </a:p>
        </p:txBody>
      </p:sp>
      <p:sp>
        <p:nvSpPr>
          <p:cNvPr id="18" name="Oval 17"/>
          <p:cNvSpPr/>
          <p:nvPr/>
        </p:nvSpPr>
        <p:spPr>
          <a:xfrm>
            <a:off x="960120" y="4535424"/>
            <a:ext cx="88900" cy="88900"/>
          </a:xfrm>
          <a:prstGeom prst="ellipse">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4443984"/>
            <a:ext cx="2743200" cy="457200"/>
          </a:xfrm>
          <a:prstGeom prst="rect">
            <a:avLst/>
          </a:prstGeom>
          <a:noFill/>
        </p:spPr>
        <p:txBody>
          <a:bodyPr wrap="square">
            <a:spAutoFit/>
          </a:bodyPr>
          <a:lstStyle/>
          <a:p>
            <a:pPr algn="l"/>
            <a:r>
              <a:rPr sz="1400" b="0" i="0">
                <a:solidFill>
                  <a:srgbClr val="2D2D2D"/>
                </a:solidFill>
                <a:latin typeface="Calibri"/>
              </a:rPr>
              <a:t>Pilot with 3–5 selected courses</a:t>
            </a:r>
          </a:p>
        </p:txBody>
      </p:sp>
      <p:sp>
        <p:nvSpPr>
          <p:cNvPr id="20" name="Oval 19"/>
          <p:cNvSpPr/>
          <p:nvPr/>
        </p:nvSpPr>
        <p:spPr>
          <a:xfrm>
            <a:off x="960120" y="5102352"/>
            <a:ext cx="88900" cy="88900"/>
          </a:xfrm>
          <a:prstGeom prst="ellipse">
            <a:avLst/>
          </a:prstGeom>
          <a:solidFill>
            <a:srgbClr val="3A8F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5010912"/>
            <a:ext cx="2743200" cy="457200"/>
          </a:xfrm>
          <a:prstGeom prst="rect">
            <a:avLst/>
          </a:prstGeom>
          <a:noFill/>
        </p:spPr>
        <p:txBody>
          <a:bodyPr wrap="square">
            <a:spAutoFit/>
          </a:bodyPr>
          <a:lstStyle/>
          <a:p>
            <a:pPr algn="l"/>
            <a:r>
              <a:rPr sz="1400" b="0" i="0">
                <a:solidFill>
                  <a:srgbClr val="2D2D2D"/>
                </a:solidFill>
                <a:latin typeface="Calibri"/>
              </a:rPr>
              <a:t>Gather feedback &amp; iterate</a:t>
            </a:r>
          </a:p>
        </p:txBody>
      </p:sp>
      <p:sp>
        <p:nvSpPr>
          <p:cNvPr id="22" name="TextBox 21"/>
          <p:cNvSpPr txBox="1"/>
          <p:nvPr/>
        </p:nvSpPr>
        <p:spPr>
          <a:xfrm>
            <a:off x="4206240" y="1874520"/>
            <a:ext cx="274320" cy="457200"/>
          </a:xfrm>
          <a:prstGeom prst="rect">
            <a:avLst/>
          </a:prstGeom>
          <a:noFill/>
        </p:spPr>
        <p:txBody>
          <a:bodyPr wrap="square">
            <a:spAutoFit/>
          </a:bodyPr>
          <a:lstStyle/>
          <a:p>
            <a:pPr algn="ctr"/>
            <a:r>
              <a:rPr sz="2600" b="1" i="0">
                <a:solidFill>
                  <a:srgbClr val="C89616"/>
                </a:solidFill>
                <a:latin typeface="Calibri"/>
              </a:rPr>
              <a:t>→</a:t>
            </a:r>
          </a:p>
        </p:txBody>
      </p:sp>
      <p:sp>
        <p:nvSpPr>
          <p:cNvPr id="23" name="Rectangle 22"/>
          <p:cNvSpPr/>
          <p:nvPr/>
        </p:nvSpPr>
        <p:spPr>
          <a:xfrm>
            <a:off x="4434840" y="1691640"/>
            <a:ext cx="3337560" cy="86868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63440" y="1737360"/>
            <a:ext cx="1371600" cy="274320"/>
          </a:xfrm>
          <a:prstGeom prst="rect">
            <a:avLst/>
          </a:prstGeom>
          <a:noFill/>
        </p:spPr>
        <p:txBody>
          <a:bodyPr wrap="square">
            <a:spAutoFit/>
          </a:bodyPr>
          <a:lstStyle/>
          <a:p>
            <a:pPr algn="l"/>
            <a:r>
              <a:rPr sz="1200" b="1" i="0">
                <a:solidFill>
                  <a:srgbClr val="E8C85A"/>
                </a:solidFill>
                <a:latin typeface="Calibri"/>
              </a:rPr>
              <a:t>PHASE 2</a:t>
            </a:r>
          </a:p>
        </p:txBody>
      </p:sp>
      <p:sp>
        <p:nvSpPr>
          <p:cNvPr id="25" name="TextBox 24"/>
          <p:cNvSpPr txBox="1"/>
          <p:nvPr/>
        </p:nvSpPr>
        <p:spPr>
          <a:xfrm>
            <a:off x="4663440" y="2011680"/>
            <a:ext cx="2286000" cy="411480"/>
          </a:xfrm>
          <a:prstGeom prst="rect">
            <a:avLst/>
          </a:prstGeom>
          <a:noFill/>
        </p:spPr>
        <p:txBody>
          <a:bodyPr wrap="square">
            <a:spAutoFit/>
          </a:bodyPr>
          <a:lstStyle/>
          <a:p>
            <a:pPr algn="l"/>
            <a:r>
              <a:rPr sz="1800" b="1" i="0">
                <a:solidFill>
                  <a:srgbClr val="FFFFFF"/>
                </a:solidFill>
                <a:latin typeface="Calibri"/>
              </a:rPr>
              <a:t>Training &amp; Expansion</a:t>
            </a:r>
          </a:p>
        </p:txBody>
      </p:sp>
      <p:sp>
        <p:nvSpPr>
          <p:cNvPr id="26" name="TextBox 25"/>
          <p:cNvSpPr txBox="1"/>
          <p:nvPr/>
        </p:nvSpPr>
        <p:spPr>
          <a:xfrm>
            <a:off x="6537960" y="1737360"/>
            <a:ext cx="1005840" cy="274320"/>
          </a:xfrm>
          <a:prstGeom prst="rect">
            <a:avLst/>
          </a:prstGeom>
          <a:noFill/>
        </p:spPr>
        <p:txBody>
          <a:bodyPr wrap="square">
            <a:spAutoFit/>
          </a:bodyPr>
          <a:lstStyle/>
          <a:p>
            <a:pPr algn="r"/>
            <a:r>
              <a:rPr sz="1100" b="0" i="0">
                <a:solidFill>
                  <a:srgbClr val="E8C85A"/>
                </a:solidFill>
                <a:latin typeface="Calibri"/>
              </a:rPr>
              <a:t>Months 4–6</a:t>
            </a:r>
          </a:p>
        </p:txBody>
      </p:sp>
      <p:sp>
        <p:nvSpPr>
          <p:cNvPr id="27" name="Oval 26"/>
          <p:cNvSpPr/>
          <p:nvPr/>
        </p:nvSpPr>
        <p:spPr>
          <a:xfrm>
            <a:off x="4572000" y="2834640"/>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92040" y="2743200"/>
            <a:ext cx="2743200" cy="457200"/>
          </a:xfrm>
          <a:prstGeom prst="rect">
            <a:avLst/>
          </a:prstGeom>
          <a:noFill/>
        </p:spPr>
        <p:txBody>
          <a:bodyPr wrap="square">
            <a:spAutoFit/>
          </a:bodyPr>
          <a:lstStyle/>
          <a:p>
            <a:pPr algn="l"/>
            <a:r>
              <a:rPr sz="1400" b="0" i="0">
                <a:solidFill>
                  <a:srgbClr val="2D2D2D"/>
                </a:solidFill>
                <a:latin typeface="Calibri"/>
              </a:rPr>
              <a:t>Faculty &amp; staff training workshops</a:t>
            </a:r>
          </a:p>
        </p:txBody>
      </p:sp>
      <p:sp>
        <p:nvSpPr>
          <p:cNvPr id="29" name="Oval 28"/>
          <p:cNvSpPr/>
          <p:nvPr/>
        </p:nvSpPr>
        <p:spPr>
          <a:xfrm>
            <a:off x="4572000" y="3401568"/>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310128"/>
            <a:ext cx="2743200" cy="457200"/>
          </a:xfrm>
          <a:prstGeom prst="rect">
            <a:avLst/>
          </a:prstGeom>
          <a:noFill/>
        </p:spPr>
        <p:txBody>
          <a:bodyPr wrap="square">
            <a:spAutoFit/>
          </a:bodyPr>
          <a:lstStyle/>
          <a:p>
            <a:pPr algn="l"/>
            <a:r>
              <a:rPr sz="1400" b="0" i="0">
                <a:solidFill>
                  <a:srgbClr val="2D2D2D"/>
                </a:solidFill>
                <a:latin typeface="Calibri"/>
              </a:rPr>
              <a:t>Student onboarding &amp; orientation</a:t>
            </a:r>
          </a:p>
        </p:txBody>
      </p:sp>
      <p:sp>
        <p:nvSpPr>
          <p:cNvPr id="31" name="Oval 30"/>
          <p:cNvSpPr/>
          <p:nvPr/>
        </p:nvSpPr>
        <p:spPr>
          <a:xfrm>
            <a:off x="4572000" y="3968495"/>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92040" y="3877055"/>
            <a:ext cx="2743200" cy="457200"/>
          </a:xfrm>
          <a:prstGeom prst="rect">
            <a:avLst/>
          </a:prstGeom>
          <a:noFill/>
        </p:spPr>
        <p:txBody>
          <a:bodyPr wrap="square">
            <a:spAutoFit/>
          </a:bodyPr>
          <a:lstStyle/>
          <a:p>
            <a:pPr algn="l"/>
            <a:r>
              <a:rPr sz="1400" b="0" i="0">
                <a:solidFill>
                  <a:srgbClr val="2D2D2D"/>
                </a:solidFill>
                <a:latin typeface="Calibri"/>
              </a:rPr>
              <a:t>Expand to 15–20 courses</a:t>
            </a:r>
          </a:p>
        </p:txBody>
      </p:sp>
      <p:sp>
        <p:nvSpPr>
          <p:cNvPr id="33" name="Oval 32"/>
          <p:cNvSpPr/>
          <p:nvPr/>
        </p:nvSpPr>
        <p:spPr>
          <a:xfrm>
            <a:off x="4572000" y="4535424"/>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92040" y="4443984"/>
            <a:ext cx="2743200" cy="457200"/>
          </a:xfrm>
          <a:prstGeom prst="rect">
            <a:avLst/>
          </a:prstGeom>
          <a:noFill/>
        </p:spPr>
        <p:txBody>
          <a:bodyPr wrap="square">
            <a:spAutoFit/>
          </a:bodyPr>
          <a:lstStyle/>
          <a:p>
            <a:pPr algn="l"/>
            <a:r>
              <a:rPr sz="1400" b="0" i="0">
                <a:solidFill>
                  <a:srgbClr val="2D2D2D"/>
                </a:solidFill>
                <a:latin typeface="Calibri"/>
              </a:rPr>
              <a:t>Establish IT helpdesk &amp; support</a:t>
            </a:r>
          </a:p>
        </p:txBody>
      </p:sp>
      <p:sp>
        <p:nvSpPr>
          <p:cNvPr id="35" name="Oval 34"/>
          <p:cNvSpPr/>
          <p:nvPr/>
        </p:nvSpPr>
        <p:spPr>
          <a:xfrm>
            <a:off x="4572000" y="5102352"/>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5010912"/>
            <a:ext cx="2743200" cy="457200"/>
          </a:xfrm>
          <a:prstGeom prst="rect">
            <a:avLst/>
          </a:prstGeom>
          <a:noFill/>
        </p:spPr>
        <p:txBody>
          <a:bodyPr wrap="square">
            <a:spAutoFit/>
          </a:bodyPr>
          <a:lstStyle/>
          <a:p>
            <a:pPr algn="l"/>
            <a:r>
              <a:rPr sz="1400" b="0" i="0">
                <a:solidFill>
                  <a:srgbClr val="2D2D2D"/>
                </a:solidFill>
                <a:latin typeface="Calibri"/>
              </a:rPr>
              <a:t>Refine based on pilot learnings</a:t>
            </a:r>
          </a:p>
        </p:txBody>
      </p:sp>
      <p:sp>
        <p:nvSpPr>
          <p:cNvPr id="37" name="TextBox 36"/>
          <p:cNvSpPr txBox="1"/>
          <p:nvPr/>
        </p:nvSpPr>
        <p:spPr>
          <a:xfrm>
            <a:off x="7818120" y="1874520"/>
            <a:ext cx="274320" cy="457200"/>
          </a:xfrm>
          <a:prstGeom prst="rect">
            <a:avLst/>
          </a:prstGeom>
          <a:noFill/>
        </p:spPr>
        <p:txBody>
          <a:bodyPr wrap="square">
            <a:spAutoFit/>
          </a:bodyPr>
          <a:lstStyle/>
          <a:p>
            <a:pPr algn="ctr"/>
            <a:r>
              <a:rPr sz="2600" b="1" i="0">
                <a:solidFill>
                  <a:srgbClr val="C89616"/>
                </a:solidFill>
                <a:latin typeface="Calibri"/>
              </a:rPr>
              <a:t>→</a:t>
            </a:r>
          </a:p>
        </p:txBody>
      </p:sp>
      <p:sp>
        <p:nvSpPr>
          <p:cNvPr id="38" name="Rectangle 37"/>
          <p:cNvSpPr/>
          <p:nvPr/>
        </p:nvSpPr>
        <p:spPr>
          <a:xfrm>
            <a:off x="8046720" y="1691640"/>
            <a:ext cx="3337560" cy="8686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1737360"/>
            <a:ext cx="1371600" cy="274320"/>
          </a:xfrm>
          <a:prstGeom prst="rect">
            <a:avLst/>
          </a:prstGeom>
          <a:noFill/>
        </p:spPr>
        <p:txBody>
          <a:bodyPr wrap="square">
            <a:spAutoFit/>
          </a:bodyPr>
          <a:lstStyle/>
          <a:p>
            <a:pPr algn="l"/>
            <a:r>
              <a:rPr sz="1200" b="1" i="0">
                <a:solidFill>
                  <a:srgbClr val="E8C85A"/>
                </a:solidFill>
                <a:latin typeface="Calibri"/>
              </a:rPr>
              <a:t>PHASE 3</a:t>
            </a:r>
          </a:p>
        </p:txBody>
      </p:sp>
      <p:sp>
        <p:nvSpPr>
          <p:cNvPr id="40" name="TextBox 39"/>
          <p:cNvSpPr txBox="1"/>
          <p:nvPr/>
        </p:nvSpPr>
        <p:spPr>
          <a:xfrm>
            <a:off x="8275320" y="2011680"/>
            <a:ext cx="2286000" cy="411480"/>
          </a:xfrm>
          <a:prstGeom prst="rect">
            <a:avLst/>
          </a:prstGeom>
          <a:noFill/>
        </p:spPr>
        <p:txBody>
          <a:bodyPr wrap="square">
            <a:spAutoFit/>
          </a:bodyPr>
          <a:lstStyle/>
          <a:p>
            <a:pPr algn="l"/>
            <a:r>
              <a:rPr sz="1800" b="1" i="0">
                <a:solidFill>
                  <a:srgbClr val="FFFFFF"/>
                </a:solidFill>
                <a:latin typeface="Calibri"/>
              </a:rPr>
              <a:t>Full Rollout</a:t>
            </a:r>
          </a:p>
        </p:txBody>
      </p:sp>
      <p:sp>
        <p:nvSpPr>
          <p:cNvPr id="41" name="TextBox 40"/>
          <p:cNvSpPr txBox="1"/>
          <p:nvPr/>
        </p:nvSpPr>
        <p:spPr>
          <a:xfrm>
            <a:off x="10149840" y="1737360"/>
            <a:ext cx="1005840" cy="274320"/>
          </a:xfrm>
          <a:prstGeom prst="rect">
            <a:avLst/>
          </a:prstGeom>
          <a:noFill/>
        </p:spPr>
        <p:txBody>
          <a:bodyPr wrap="square">
            <a:spAutoFit/>
          </a:bodyPr>
          <a:lstStyle/>
          <a:p>
            <a:pPr algn="r"/>
            <a:r>
              <a:rPr sz="1100" b="0" i="0">
                <a:solidFill>
                  <a:srgbClr val="E8C85A"/>
                </a:solidFill>
                <a:latin typeface="Calibri"/>
              </a:rPr>
              <a:t>Months 7–12</a:t>
            </a:r>
          </a:p>
        </p:txBody>
      </p:sp>
      <p:sp>
        <p:nvSpPr>
          <p:cNvPr id="42" name="Oval 41"/>
          <p:cNvSpPr/>
          <p:nvPr/>
        </p:nvSpPr>
        <p:spPr>
          <a:xfrm>
            <a:off x="8183880" y="2834640"/>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03920" y="2743200"/>
            <a:ext cx="2743200" cy="457200"/>
          </a:xfrm>
          <a:prstGeom prst="rect">
            <a:avLst/>
          </a:prstGeom>
          <a:noFill/>
        </p:spPr>
        <p:txBody>
          <a:bodyPr wrap="square">
            <a:spAutoFit/>
          </a:bodyPr>
          <a:lstStyle/>
          <a:p>
            <a:pPr algn="l"/>
            <a:r>
              <a:rPr sz="1400" b="0" i="0">
                <a:solidFill>
                  <a:srgbClr val="2D2D2D"/>
                </a:solidFill>
                <a:latin typeface="Calibri"/>
              </a:rPr>
              <a:t>University-wide deployment</a:t>
            </a:r>
          </a:p>
        </p:txBody>
      </p:sp>
      <p:sp>
        <p:nvSpPr>
          <p:cNvPr id="44" name="Oval 43"/>
          <p:cNvSpPr/>
          <p:nvPr/>
        </p:nvSpPr>
        <p:spPr>
          <a:xfrm>
            <a:off x="8183880" y="3401568"/>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03920" y="3310128"/>
            <a:ext cx="2743200" cy="457200"/>
          </a:xfrm>
          <a:prstGeom prst="rect">
            <a:avLst/>
          </a:prstGeom>
          <a:noFill/>
        </p:spPr>
        <p:txBody>
          <a:bodyPr wrap="square">
            <a:spAutoFit/>
          </a:bodyPr>
          <a:lstStyle/>
          <a:p>
            <a:pPr algn="l"/>
            <a:r>
              <a:rPr sz="1400" b="0" i="0">
                <a:solidFill>
                  <a:srgbClr val="2D2D2D"/>
                </a:solidFill>
                <a:latin typeface="Calibri"/>
              </a:rPr>
              <a:t>All programmes available on ODeL</a:t>
            </a:r>
          </a:p>
        </p:txBody>
      </p:sp>
      <p:sp>
        <p:nvSpPr>
          <p:cNvPr id="46" name="Oval 45"/>
          <p:cNvSpPr/>
          <p:nvPr/>
        </p:nvSpPr>
        <p:spPr>
          <a:xfrm>
            <a:off x="8183880" y="3968495"/>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03920" y="3877055"/>
            <a:ext cx="2743200" cy="457200"/>
          </a:xfrm>
          <a:prstGeom prst="rect">
            <a:avLst/>
          </a:prstGeom>
          <a:noFill/>
        </p:spPr>
        <p:txBody>
          <a:bodyPr wrap="square">
            <a:spAutoFit/>
          </a:bodyPr>
          <a:lstStyle/>
          <a:p>
            <a:pPr algn="l"/>
            <a:r>
              <a:rPr sz="1400" b="0" i="0">
                <a:solidFill>
                  <a:srgbClr val="2D2D2D"/>
                </a:solidFill>
                <a:latin typeface="Calibri"/>
              </a:rPr>
              <a:t>Performance monitoring &amp; reporting</a:t>
            </a:r>
          </a:p>
        </p:txBody>
      </p:sp>
      <p:sp>
        <p:nvSpPr>
          <p:cNvPr id="48" name="Oval 47"/>
          <p:cNvSpPr/>
          <p:nvPr/>
        </p:nvSpPr>
        <p:spPr>
          <a:xfrm>
            <a:off x="8183880" y="4535424"/>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03920" y="4443984"/>
            <a:ext cx="2743200" cy="457200"/>
          </a:xfrm>
          <a:prstGeom prst="rect">
            <a:avLst/>
          </a:prstGeom>
          <a:noFill/>
        </p:spPr>
        <p:txBody>
          <a:bodyPr wrap="square">
            <a:spAutoFit/>
          </a:bodyPr>
          <a:lstStyle/>
          <a:p>
            <a:pPr algn="l"/>
            <a:r>
              <a:rPr sz="1400" b="0" i="0">
                <a:solidFill>
                  <a:srgbClr val="2D2D2D"/>
                </a:solidFill>
                <a:latin typeface="Calibri"/>
              </a:rPr>
              <a:t>NCHE compliance documentation</a:t>
            </a:r>
          </a:p>
        </p:txBody>
      </p:sp>
      <p:sp>
        <p:nvSpPr>
          <p:cNvPr id="50" name="Oval 49"/>
          <p:cNvSpPr/>
          <p:nvPr/>
        </p:nvSpPr>
        <p:spPr>
          <a:xfrm>
            <a:off x="8183880" y="5102352"/>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503920" y="5010912"/>
            <a:ext cx="2743200" cy="457200"/>
          </a:xfrm>
          <a:prstGeom prst="rect">
            <a:avLst/>
          </a:prstGeom>
          <a:noFill/>
        </p:spPr>
        <p:txBody>
          <a:bodyPr wrap="square">
            <a:spAutoFit/>
          </a:bodyPr>
          <a:lstStyle/>
          <a:p>
            <a:pPr algn="l"/>
            <a:r>
              <a:rPr sz="1400" b="0" i="0">
                <a:solidFill>
                  <a:srgbClr val="2D2D2D"/>
                </a:solidFill>
                <a:latin typeface="Calibri"/>
              </a:rPr>
              <a:t>Continuous improvement cycle</a:t>
            </a:r>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15/18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Training &amp; Capacity Building</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508760"/>
            <a:ext cx="10545775" cy="548640"/>
          </a:xfrm>
          <a:prstGeom prst="rect">
            <a:avLst/>
          </a:prstGeom>
          <a:noFill/>
        </p:spPr>
        <p:txBody>
          <a:bodyPr wrap="square">
            <a:spAutoFit/>
          </a:bodyPr>
          <a:lstStyle/>
          <a:p>
            <a:pPr algn="l"/>
            <a:r>
              <a:rPr sz="1700" b="0" i="1">
                <a:solidFill>
                  <a:srgbClr val="888888"/>
                </a:solidFill>
                <a:latin typeface="Calibri"/>
              </a:rPr>
              <a:t>Technology alone is not enough. Successful ODeL requires people who are confident and capable using it.</a:t>
            </a:r>
          </a:p>
        </p:txBody>
      </p:sp>
      <p:sp>
        <p:nvSpPr>
          <p:cNvPr id="9" name="Rectangle 8"/>
          <p:cNvSpPr/>
          <p:nvPr/>
        </p:nvSpPr>
        <p:spPr>
          <a:xfrm>
            <a:off x="822960" y="2423160"/>
            <a:ext cx="3337560" cy="4572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468880"/>
            <a:ext cx="2926080" cy="365760"/>
          </a:xfrm>
          <a:prstGeom prst="rect">
            <a:avLst/>
          </a:prstGeom>
          <a:noFill/>
        </p:spPr>
        <p:txBody>
          <a:bodyPr wrap="square">
            <a:spAutoFit/>
          </a:bodyPr>
          <a:lstStyle/>
          <a:p>
            <a:pPr algn="l"/>
            <a:r>
              <a:rPr sz="1700" b="1" i="0">
                <a:solidFill>
                  <a:srgbClr val="FFFFFF"/>
                </a:solidFill>
                <a:latin typeface="Calibri"/>
              </a:rPr>
              <a:t>Faculty &amp; Lecturers</a:t>
            </a:r>
          </a:p>
        </p:txBody>
      </p:sp>
      <p:sp>
        <p:nvSpPr>
          <p:cNvPr id="11" name="Oval 10"/>
          <p:cNvSpPr/>
          <p:nvPr/>
        </p:nvSpPr>
        <p:spPr>
          <a:xfrm>
            <a:off x="960120" y="3218688"/>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 y="3108960"/>
            <a:ext cx="2743200" cy="548640"/>
          </a:xfrm>
          <a:prstGeom prst="rect">
            <a:avLst/>
          </a:prstGeom>
          <a:noFill/>
        </p:spPr>
        <p:txBody>
          <a:bodyPr wrap="square">
            <a:spAutoFit/>
          </a:bodyPr>
          <a:lstStyle/>
          <a:p>
            <a:pPr algn="l"/>
            <a:r>
              <a:rPr sz="1400" b="0" i="0">
                <a:solidFill>
                  <a:srgbClr val="2D2D2D"/>
                </a:solidFill>
                <a:latin typeface="Calibri"/>
              </a:rPr>
              <a:t>Hands-on Moodle workshops</a:t>
            </a:r>
          </a:p>
        </p:txBody>
      </p:sp>
      <p:sp>
        <p:nvSpPr>
          <p:cNvPr id="13" name="Oval 12"/>
          <p:cNvSpPr/>
          <p:nvPr/>
        </p:nvSpPr>
        <p:spPr>
          <a:xfrm>
            <a:off x="960120" y="3904488"/>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0160" y="3794760"/>
            <a:ext cx="2743200" cy="548640"/>
          </a:xfrm>
          <a:prstGeom prst="rect">
            <a:avLst/>
          </a:prstGeom>
          <a:noFill/>
        </p:spPr>
        <p:txBody>
          <a:bodyPr wrap="square">
            <a:spAutoFit/>
          </a:bodyPr>
          <a:lstStyle/>
          <a:p>
            <a:pPr algn="l"/>
            <a:r>
              <a:rPr sz="1400" b="0" i="0">
                <a:solidFill>
                  <a:srgbClr val="2D2D2D"/>
                </a:solidFill>
                <a:latin typeface="Calibri"/>
              </a:rPr>
              <a:t>Online pedagogy best practices</a:t>
            </a:r>
          </a:p>
        </p:txBody>
      </p:sp>
      <p:sp>
        <p:nvSpPr>
          <p:cNvPr id="15" name="Oval 14"/>
          <p:cNvSpPr/>
          <p:nvPr/>
        </p:nvSpPr>
        <p:spPr>
          <a:xfrm>
            <a:off x="960120" y="4590288"/>
            <a:ext cx="88900" cy="88900"/>
          </a:xfrm>
          <a:prstGeom prst="ellipse">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80160" y="4480560"/>
            <a:ext cx="2743200" cy="548640"/>
          </a:xfrm>
          <a:prstGeom prst="rect">
            <a:avLst/>
          </a:prstGeom>
          <a:noFill/>
        </p:spPr>
        <p:txBody>
          <a:bodyPr wrap="square">
            <a:spAutoFit/>
          </a:bodyPr>
          <a:lstStyle/>
          <a:p>
            <a:pPr algn="l"/>
            <a:r>
              <a:rPr sz="1400" b="0" i="0">
                <a:solidFill>
                  <a:srgbClr val="2D2D2D"/>
                </a:solidFill>
                <a:latin typeface="Calibri"/>
              </a:rPr>
              <a:t>Ongoing helpdesk &amp; documentation</a:t>
            </a:r>
          </a:p>
        </p:txBody>
      </p:sp>
      <p:sp>
        <p:nvSpPr>
          <p:cNvPr id="17" name="Rectangle 16"/>
          <p:cNvSpPr/>
          <p:nvPr/>
        </p:nvSpPr>
        <p:spPr>
          <a:xfrm>
            <a:off x="4434840" y="2423160"/>
            <a:ext cx="3337560" cy="457200"/>
          </a:xfrm>
          <a:prstGeom prst="rect">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468880"/>
            <a:ext cx="2926080" cy="365760"/>
          </a:xfrm>
          <a:prstGeom prst="rect">
            <a:avLst/>
          </a:prstGeom>
          <a:noFill/>
        </p:spPr>
        <p:txBody>
          <a:bodyPr wrap="square">
            <a:spAutoFit/>
          </a:bodyPr>
          <a:lstStyle/>
          <a:p>
            <a:pPr algn="l"/>
            <a:r>
              <a:rPr sz="1700" b="1" i="0">
                <a:solidFill>
                  <a:srgbClr val="FFFFFF"/>
                </a:solidFill>
                <a:latin typeface="Calibri"/>
              </a:rPr>
              <a:t>Students</a:t>
            </a:r>
          </a:p>
        </p:txBody>
      </p:sp>
      <p:sp>
        <p:nvSpPr>
          <p:cNvPr id="19" name="Oval 18"/>
          <p:cNvSpPr/>
          <p:nvPr/>
        </p:nvSpPr>
        <p:spPr>
          <a:xfrm>
            <a:off x="4572000" y="3218688"/>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92040" y="3108960"/>
            <a:ext cx="2743200" cy="548640"/>
          </a:xfrm>
          <a:prstGeom prst="rect">
            <a:avLst/>
          </a:prstGeom>
          <a:noFill/>
        </p:spPr>
        <p:txBody>
          <a:bodyPr wrap="square">
            <a:spAutoFit/>
          </a:bodyPr>
          <a:lstStyle/>
          <a:p>
            <a:pPr algn="l"/>
            <a:r>
              <a:rPr sz="1400" b="0" i="0">
                <a:solidFill>
                  <a:srgbClr val="2D2D2D"/>
                </a:solidFill>
                <a:latin typeface="Calibri"/>
              </a:rPr>
              <a:t>Orientation sessions at enrolment</a:t>
            </a:r>
          </a:p>
        </p:txBody>
      </p:sp>
      <p:sp>
        <p:nvSpPr>
          <p:cNvPr id="21" name="Oval 20"/>
          <p:cNvSpPr/>
          <p:nvPr/>
        </p:nvSpPr>
        <p:spPr>
          <a:xfrm>
            <a:off x="4572000" y="3904488"/>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92040" y="3794760"/>
            <a:ext cx="2743200" cy="548640"/>
          </a:xfrm>
          <a:prstGeom prst="rect">
            <a:avLst/>
          </a:prstGeom>
          <a:noFill/>
        </p:spPr>
        <p:txBody>
          <a:bodyPr wrap="square">
            <a:spAutoFit/>
          </a:bodyPr>
          <a:lstStyle/>
          <a:p>
            <a:pPr algn="l"/>
            <a:r>
              <a:rPr sz="1400" b="0" i="0">
                <a:solidFill>
                  <a:srgbClr val="2D2D2D"/>
                </a:solidFill>
                <a:latin typeface="Calibri"/>
              </a:rPr>
              <a:t>Step-by-step video tutorials</a:t>
            </a:r>
          </a:p>
        </p:txBody>
      </p:sp>
      <p:sp>
        <p:nvSpPr>
          <p:cNvPr id="23" name="Oval 22"/>
          <p:cNvSpPr/>
          <p:nvPr/>
        </p:nvSpPr>
        <p:spPr>
          <a:xfrm>
            <a:off x="4572000" y="4590288"/>
            <a:ext cx="88900" cy="88900"/>
          </a:xfrm>
          <a:prstGeom prst="ellipse">
            <a:avLst/>
          </a:prstGeom>
          <a:solidFill>
            <a:srgbClr val="003D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4480560"/>
            <a:ext cx="2743200" cy="548640"/>
          </a:xfrm>
          <a:prstGeom prst="rect">
            <a:avLst/>
          </a:prstGeom>
          <a:noFill/>
        </p:spPr>
        <p:txBody>
          <a:bodyPr wrap="square">
            <a:spAutoFit/>
          </a:bodyPr>
          <a:lstStyle/>
          <a:p>
            <a:pPr algn="l"/>
            <a:r>
              <a:rPr sz="1400" b="0" i="0">
                <a:solidFill>
                  <a:srgbClr val="2D2D2D"/>
                </a:solidFill>
                <a:latin typeface="Calibri"/>
              </a:rPr>
              <a:t>SMS/WhatsApp support channel</a:t>
            </a:r>
          </a:p>
        </p:txBody>
      </p:sp>
      <p:sp>
        <p:nvSpPr>
          <p:cNvPr id="25" name="Rectangle 24"/>
          <p:cNvSpPr/>
          <p:nvPr/>
        </p:nvSpPr>
        <p:spPr>
          <a:xfrm>
            <a:off x="8046720" y="2423160"/>
            <a:ext cx="3337560" cy="457200"/>
          </a:xfrm>
          <a:prstGeom prst="rect">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0" y="2468880"/>
            <a:ext cx="2926080" cy="365760"/>
          </a:xfrm>
          <a:prstGeom prst="rect">
            <a:avLst/>
          </a:prstGeom>
          <a:noFill/>
        </p:spPr>
        <p:txBody>
          <a:bodyPr wrap="square">
            <a:spAutoFit/>
          </a:bodyPr>
          <a:lstStyle/>
          <a:p>
            <a:pPr algn="l"/>
            <a:r>
              <a:rPr sz="1700" b="1" i="0">
                <a:solidFill>
                  <a:srgbClr val="FFFFFF"/>
                </a:solidFill>
                <a:latin typeface="Calibri"/>
              </a:rPr>
              <a:t>IT &amp; Admin Staff</a:t>
            </a:r>
          </a:p>
        </p:txBody>
      </p:sp>
      <p:sp>
        <p:nvSpPr>
          <p:cNvPr id="27" name="Oval 26"/>
          <p:cNvSpPr/>
          <p:nvPr/>
        </p:nvSpPr>
        <p:spPr>
          <a:xfrm>
            <a:off x="8183880" y="3218688"/>
            <a:ext cx="88900" cy="88900"/>
          </a:xfrm>
          <a:prstGeom prst="ellipse">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3920" y="3108960"/>
            <a:ext cx="2743200" cy="548640"/>
          </a:xfrm>
          <a:prstGeom prst="rect">
            <a:avLst/>
          </a:prstGeom>
          <a:noFill/>
        </p:spPr>
        <p:txBody>
          <a:bodyPr wrap="square">
            <a:spAutoFit/>
          </a:bodyPr>
          <a:lstStyle/>
          <a:p>
            <a:pPr algn="l"/>
            <a:r>
              <a:rPr sz="1400" b="0" i="0">
                <a:solidFill>
                  <a:srgbClr val="2D2D2D"/>
                </a:solidFill>
                <a:latin typeface="Calibri"/>
              </a:rPr>
              <a:t>System administration training</a:t>
            </a:r>
          </a:p>
        </p:txBody>
      </p:sp>
      <p:sp>
        <p:nvSpPr>
          <p:cNvPr id="29" name="Oval 28"/>
          <p:cNvSpPr/>
          <p:nvPr/>
        </p:nvSpPr>
        <p:spPr>
          <a:xfrm>
            <a:off x="8183880" y="3904488"/>
            <a:ext cx="88900" cy="88900"/>
          </a:xfrm>
          <a:prstGeom prst="ellipse">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0" y="3794760"/>
            <a:ext cx="2743200" cy="548640"/>
          </a:xfrm>
          <a:prstGeom prst="rect">
            <a:avLst/>
          </a:prstGeom>
          <a:noFill/>
        </p:spPr>
        <p:txBody>
          <a:bodyPr wrap="square">
            <a:spAutoFit/>
          </a:bodyPr>
          <a:lstStyle/>
          <a:p>
            <a:pPr algn="l"/>
            <a:r>
              <a:rPr sz="1400" b="0" i="0">
                <a:solidFill>
                  <a:srgbClr val="2D2D2D"/>
                </a:solidFill>
                <a:latin typeface="Calibri"/>
              </a:rPr>
              <a:t>Monitoring &amp; backup procedures</a:t>
            </a:r>
          </a:p>
        </p:txBody>
      </p:sp>
      <p:sp>
        <p:nvSpPr>
          <p:cNvPr id="31" name="Oval 30"/>
          <p:cNvSpPr/>
          <p:nvPr/>
        </p:nvSpPr>
        <p:spPr>
          <a:xfrm>
            <a:off x="8183880" y="4590288"/>
            <a:ext cx="88900" cy="88900"/>
          </a:xfrm>
          <a:prstGeom prst="ellipse">
            <a:avLst/>
          </a:prstGeom>
          <a:solidFill>
            <a:srgbClr val="1A5C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03920" y="4480560"/>
            <a:ext cx="2743200" cy="548640"/>
          </a:xfrm>
          <a:prstGeom prst="rect">
            <a:avLst/>
          </a:prstGeom>
          <a:noFill/>
        </p:spPr>
        <p:txBody>
          <a:bodyPr wrap="square">
            <a:spAutoFit/>
          </a:bodyPr>
          <a:lstStyle/>
          <a:p>
            <a:pPr algn="l"/>
            <a:r>
              <a:rPr sz="1400" b="0" i="0">
                <a:solidFill>
                  <a:srgbClr val="2D2D2D"/>
                </a:solidFill>
                <a:latin typeface="Calibri"/>
              </a:rPr>
              <a:t>NCHE reporting workflows</a:t>
            </a:r>
          </a:p>
        </p:txBody>
      </p:sp>
      <p:sp>
        <p:nvSpPr>
          <p:cNvPr id="33" name="Rectangle 32"/>
          <p:cNvSpPr/>
          <p:nvPr/>
        </p:nvSpPr>
        <p:spPr>
          <a:xfrm>
            <a:off x="822960" y="5212080"/>
            <a:ext cx="10545775" cy="8229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88720" y="5349240"/>
            <a:ext cx="9814255" cy="548640"/>
          </a:xfrm>
          <a:prstGeom prst="rect">
            <a:avLst/>
          </a:prstGeom>
          <a:noFill/>
        </p:spPr>
        <p:txBody>
          <a:bodyPr wrap="square">
            <a:spAutoFit/>
          </a:bodyPr>
          <a:lstStyle/>
          <a:p>
            <a:pPr algn="ctr"/>
            <a:r>
              <a:rPr sz="1300" b="0" i="1">
                <a:solidFill>
                  <a:srgbClr val="003D7A"/>
                </a:solidFill>
                <a:latin typeface="Calibri"/>
              </a:rPr>
              <a:t>Training will be scheduled during existing faculty development periods to minimise disruption. All materials will also be available online for self-paced review.</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16/18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Revenue Model &amp; Budget</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2000" y="1280160"/>
            <a:ext cx="5029200" cy="365760"/>
          </a:xfrm>
          <a:prstGeom prst="rect">
            <a:avLst/>
          </a:prstGeom>
          <a:noFill/>
        </p:spPr>
        <p:txBody>
          <a:bodyPr wrap="square">
            <a:spAutoFit/>
          </a:bodyPr>
          <a:lstStyle/>
          <a:p>
            <a:pPr algn="l"/>
            <a:r>
              <a:rPr sz="1800" b="1" i="0" dirty="0">
                <a:solidFill>
                  <a:srgbClr val="0A1F44"/>
                </a:solidFill>
                <a:latin typeface="Calibri"/>
              </a:rPr>
              <a:t>Revenue: Technology Fee (Precedent: Kyambogo University)</a:t>
            </a:r>
          </a:p>
        </p:txBody>
      </p:sp>
      <p:sp>
        <p:nvSpPr>
          <p:cNvPr id="9" name="Rectangle 8"/>
          <p:cNvSpPr/>
          <p:nvPr/>
        </p:nvSpPr>
        <p:spPr>
          <a:xfrm>
            <a:off x="822960" y="1893570"/>
            <a:ext cx="5029200"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116836"/>
            <a:ext cx="5029200" cy="2264723"/>
          </a:xfrm>
          <a:prstGeom prst="rect">
            <a:avLst/>
          </a:prstGeom>
          <a:noFill/>
        </p:spPr>
        <p:txBody>
          <a:bodyPr wrap="square">
            <a:spAutoFit/>
          </a:bodyPr>
          <a:lstStyle/>
          <a:p>
            <a:pPr algn="l">
              <a:spcAft>
                <a:spcPts val="500"/>
              </a:spcAft>
            </a:pPr>
            <a:r>
              <a:rPr sz="1400" b="0" dirty="0">
                <a:solidFill>
                  <a:srgbClr val="2D2D2D"/>
                </a:solidFill>
                <a:latin typeface="Calibri"/>
              </a:rPr>
              <a:t>Technology fee per student</a:t>
            </a:r>
            <a:r>
              <a:rPr lang="en-US" sz="1400" b="0" dirty="0">
                <a:solidFill>
                  <a:srgbClr val="2D2D2D"/>
                </a:solidFill>
                <a:latin typeface="Calibri"/>
              </a:rPr>
              <a:t>	</a:t>
            </a:r>
            <a:r>
              <a:rPr sz="1400" b="0" dirty="0">
                <a:solidFill>
                  <a:srgbClr val="2D2D2D"/>
                </a:solidFill>
                <a:latin typeface="Calibri"/>
              </a:rPr>
              <a:t>:</a:t>
            </a:r>
            <a:r>
              <a:rPr lang="en-US" sz="1400" dirty="0">
                <a:solidFill>
                  <a:srgbClr val="2D2D2D"/>
                </a:solidFill>
                <a:latin typeface="Calibri"/>
              </a:rPr>
              <a:t>   </a:t>
            </a:r>
            <a:r>
              <a:rPr sz="1400" b="0" dirty="0">
                <a:solidFill>
                  <a:srgbClr val="2D2D2D"/>
                </a:solidFill>
                <a:latin typeface="Calibri"/>
              </a:rPr>
              <a:t>UGX 5,000 / semester</a:t>
            </a:r>
          </a:p>
          <a:p>
            <a:pPr algn="l">
              <a:spcAft>
                <a:spcPts val="500"/>
              </a:spcAft>
            </a:pPr>
            <a:r>
              <a:rPr sz="1400" b="0" dirty="0">
                <a:solidFill>
                  <a:srgbClr val="2D2D2D"/>
                </a:solidFill>
                <a:latin typeface="Calibri"/>
              </a:rPr>
              <a:t>Estimated active students</a:t>
            </a:r>
            <a:r>
              <a:rPr lang="en-US" sz="1400" b="0" dirty="0">
                <a:solidFill>
                  <a:srgbClr val="2D2D2D"/>
                </a:solidFill>
                <a:latin typeface="Calibri"/>
              </a:rPr>
              <a:t>	</a:t>
            </a:r>
            <a:r>
              <a:rPr sz="1400" b="0" dirty="0">
                <a:solidFill>
                  <a:srgbClr val="2D2D2D"/>
                </a:solidFill>
                <a:latin typeface="Calibri"/>
              </a:rPr>
              <a:t>:   1,000</a:t>
            </a:r>
          </a:p>
          <a:p>
            <a:pPr algn="l">
              <a:spcAft>
                <a:spcPts val="500"/>
              </a:spcAft>
            </a:pPr>
            <a:endParaRPr sz="1400" b="0" dirty="0">
              <a:solidFill>
                <a:srgbClr val="2D2D2D"/>
              </a:solidFill>
              <a:latin typeface="Calibri"/>
            </a:endParaRPr>
          </a:p>
          <a:p>
            <a:pPr algn="l">
              <a:spcAft>
                <a:spcPts val="500"/>
              </a:spcAft>
            </a:pPr>
            <a:r>
              <a:rPr sz="1400" b="0" dirty="0">
                <a:solidFill>
                  <a:srgbClr val="2D2D2D"/>
                </a:solidFill>
                <a:latin typeface="Calibri"/>
              </a:rPr>
              <a:t>Revenue per semester</a:t>
            </a:r>
            <a:r>
              <a:rPr lang="en-US" sz="1400" b="0" dirty="0">
                <a:solidFill>
                  <a:srgbClr val="2D2D2D"/>
                </a:solidFill>
                <a:latin typeface="Calibri"/>
              </a:rPr>
              <a:t>		</a:t>
            </a:r>
            <a:r>
              <a:rPr sz="1400" b="0" dirty="0">
                <a:solidFill>
                  <a:srgbClr val="2D2D2D"/>
                </a:solidFill>
                <a:latin typeface="Calibri"/>
              </a:rPr>
              <a:t>:</a:t>
            </a:r>
            <a:r>
              <a:rPr lang="en-US" sz="1400" dirty="0">
                <a:solidFill>
                  <a:srgbClr val="2D2D2D"/>
                </a:solidFill>
                <a:latin typeface="Calibri"/>
              </a:rPr>
              <a:t>  </a:t>
            </a:r>
            <a:r>
              <a:rPr sz="1400" b="0" dirty="0">
                <a:solidFill>
                  <a:srgbClr val="2D2D2D"/>
                </a:solidFill>
                <a:latin typeface="Calibri"/>
              </a:rPr>
              <a:t>UGX 5,000,000</a:t>
            </a:r>
          </a:p>
          <a:p>
            <a:pPr algn="l">
              <a:spcAft>
                <a:spcPts val="500"/>
              </a:spcAft>
            </a:pPr>
            <a:r>
              <a:rPr sz="1400" b="0" dirty="0">
                <a:solidFill>
                  <a:srgbClr val="2D2D2D"/>
                </a:solidFill>
                <a:latin typeface="Calibri"/>
              </a:rPr>
              <a:t>Revenue per year (2 </a:t>
            </a:r>
            <a:r>
              <a:rPr sz="1400" b="0" dirty="0" err="1">
                <a:solidFill>
                  <a:srgbClr val="2D2D2D"/>
                </a:solidFill>
                <a:latin typeface="Calibri"/>
              </a:rPr>
              <a:t>sem</a:t>
            </a:r>
            <a:r>
              <a:rPr sz="1400" b="0" dirty="0">
                <a:solidFill>
                  <a:srgbClr val="2D2D2D"/>
                </a:solidFill>
                <a:latin typeface="Calibri"/>
              </a:rPr>
              <a:t>)</a:t>
            </a:r>
            <a:r>
              <a:rPr lang="en-US" sz="1400" b="0" dirty="0">
                <a:solidFill>
                  <a:srgbClr val="2D2D2D"/>
                </a:solidFill>
                <a:latin typeface="Calibri"/>
              </a:rPr>
              <a:t>	</a:t>
            </a:r>
            <a:r>
              <a:rPr sz="1400" b="0" dirty="0">
                <a:solidFill>
                  <a:srgbClr val="2D2D2D"/>
                </a:solidFill>
                <a:latin typeface="Calibri"/>
              </a:rPr>
              <a:t>:</a:t>
            </a:r>
            <a:r>
              <a:rPr lang="en-US" sz="1400" b="0" dirty="0">
                <a:solidFill>
                  <a:srgbClr val="2D2D2D"/>
                </a:solidFill>
                <a:latin typeface="Calibri"/>
              </a:rPr>
              <a:t> </a:t>
            </a:r>
            <a:r>
              <a:rPr sz="1400" b="0" dirty="0">
                <a:solidFill>
                  <a:srgbClr val="2D2D2D"/>
                </a:solidFill>
                <a:latin typeface="Calibri"/>
              </a:rPr>
              <a:t>UGX 10,000,000</a:t>
            </a:r>
          </a:p>
          <a:p>
            <a:pPr algn="l">
              <a:spcAft>
                <a:spcPts val="500"/>
              </a:spcAft>
            </a:pPr>
            <a:endParaRPr sz="1400" b="0" dirty="0">
              <a:solidFill>
                <a:srgbClr val="2D2D2D"/>
              </a:solidFill>
              <a:latin typeface="Calibri"/>
            </a:endParaRPr>
          </a:p>
          <a:p>
            <a:pPr algn="l">
              <a:spcAft>
                <a:spcPts val="500"/>
              </a:spcAft>
            </a:pPr>
            <a:r>
              <a:rPr sz="1400" b="0" dirty="0">
                <a:solidFill>
                  <a:srgbClr val="2D2D2D"/>
                </a:solidFill>
                <a:latin typeface="Calibri"/>
              </a:rPr>
              <a:t>Converted at 1 USD = 3,600 UGX:</a:t>
            </a:r>
          </a:p>
          <a:p>
            <a:pPr algn="l">
              <a:spcAft>
                <a:spcPts val="500"/>
              </a:spcAft>
            </a:pPr>
            <a:r>
              <a:rPr sz="1400" b="0" dirty="0">
                <a:solidFill>
                  <a:srgbClr val="2D2D2D"/>
                </a:solidFill>
                <a:latin typeface="Calibri"/>
              </a:rPr>
              <a:t>Annual revenue:               </a:t>
            </a:r>
            <a:r>
              <a:rPr sz="1400" b="1" dirty="0">
                <a:solidFill>
                  <a:srgbClr val="2D2D2D"/>
                </a:solidFill>
                <a:latin typeface="Calibri"/>
              </a:rPr>
              <a:t>$2,778</a:t>
            </a:r>
          </a:p>
        </p:txBody>
      </p:sp>
      <p:sp>
        <p:nvSpPr>
          <p:cNvPr id="11" name="Rectangle 10"/>
          <p:cNvSpPr/>
          <p:nvPr/>
        </p:nvSpPr>
        <p:spPr>
          <a:xfrm>
            <a:off x="822960" y="4663440"/>
            <a:ext cx="5029200" cy="62179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709160"/>
            <a:ext cx="4663440" cy="523220"/>
          </a:xfrm>
          <a:prstGeom prst="rect">
            <a:avLst/>
          </a:prstGeom>
          <a:noFill/>
        </p:spPr>
        <p:txBody>
          <a:bodyPr wrap="square">
            <a:spAutoFit/>
          </a:bodyPr>
          <a:lstStyle/>
          <a:p>
            <a:pPr algn="l"/>
            <a:r>
              <a:rPr sz="1400" b="1" i="0" dirty="0">
                <a:solidFill>
                  <a:srgbClr val="1E8C52"/>
                </a:solidFill>
                <a:latin typeface="Calibri"/>
              </a:rPr>
              <a:t>✓  Annual tech fee revenue ($2,778) exceeds total platform cost ($2,500)</a:t>
            </a:r>
          </a:p>
        </p:txBody>
      </p:sp>
      <p:sp>
        <p:nvSpPr>
          <p:cNvPr id="13" name="TextBox 12"/>
          <p:cNvSpPr txBox="1"/>
          <p:nvPr/>
        </p:nvSpPr>
        <p:spPr>
          <a:xfrm>
            <a:off x="6400800" y="1508760"/>
            <a:ext cx="5029200" cy="365760"/>
          </a:xfrm>
          <a:prstGeom prst="rect">
            <a:avLst/>
          </a:prstGeom>
          <a:noFill/>
        </p:spPr>
        <p:txBody>
          <a:bodyPr wrap="square">
            <a:spAutoFit/>
          </a:bodyPr>
          <a:lstStyle/>
          <a:p>
            <a:pPr algn="l"/>
            <a:r>
              <a:rPr sz="1800" b="1" i="0">
                <a:solidFill>
                  <a:srgbClr val="0A1F44"/>
                </a:solidFill>
                <a:latin typeface="Calibri"/>
              </a:rPr>
              <a:t>Budget Breakdown (Annual, in USD)</a:t>
            </a:r>
          </a:p>
        </p:txBody>
      </p:sp>
      <p:sp>
        <p:nvSpPr>
          <p:cNvPr id="14" name="Rectangle 13"/>
          <p:cNvSpPr/>
          <p:nvPr/>
        </p:nvSpPr>
        <p:spPr>
          <a:xfrm>
            <a:off x="6400800" y="1874520"/>
            <a:ext cx="5029200"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2011680"/>
            <a:ext cx="3017520" cy="347472"/>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2029967"/>
            <a:ext cx="2834640" cy="310896"/>
          </a:xfrm>
          <a:prstGeom prst="rect">
            <a:avLst/>
          </a:prstGeom>
          <a:noFill/>
        </p:spPr>
        <p:txBody>
          <a:bodyPr wrap="square">
            <a:spAutoFit/>
          </a:bodyPr>
          <a:lstStyle/>
          <a:p>
            <a:pPr algn="l"/>
            <a:r>
              <a:rPr sz="1200" b="1" i="0">
                <a:solidFill>
                  <a:srgbClr val="FFFFFF"/>
                </a:solidFill>
                <a:latin typeface="Calibri"/>
              </a:rPr>
              <a:t>Item</a:t>
            </a:r>
          </a:p>
        </p:txBody>
      </p:sp>
      <p:sp>
        <p:nvSpPr>
          <p:cNvPr id="17" name="Rectangle 16"/>
          <p:cNvSpPr/>
          <p:nvPr/>
        </p:nvSpPr>
        <p:spPr>
          <a:xfrm>
            <a:off x="9418320" y="2011680"/>
            <a:ext cx="2011680" cy="347472"/>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2029967"/>
            <a:ext cx="1828800" cy="310896"/>
          </a:xfrm>
          <a:prstGeom prst="rect">
            <a:avLst/>
          </a:prstGeom>
          <a:noFill/>
        </p:spPr>
        <p:txBody>
          <a:bodyPr wrap="square">
            <a:spAutoFit/>
          </a:bodyPr>
          <a:lstStyle/>
          <a:p>
            <a:pPr algn="r"/>
            <a:r>
              <a:rPr sz="1200" b="1" i="0">
                <a:solidFill>
                  <a:srgbClr val="FFFFFF"/>
                </a:solidFill>
                <a:latin typeface="Calibri"/>
              </a:rPr>
              <a:t>Cost (USD)</a:t>
            </a:r>
          </a:p>
        </p:txBody>
      </p:sp>
      <p:sp>
        <p:nvSpPr>
          <p:cNvPr id="19" name="Rectangle 18"/>
          <p:cNvSpPr/>
          <p:nvPr/>
        </p:nvSpPr>
        <p:spPr>
          <a:xfrm>
            <a:off x="6400800" y="2404872"/>
            <a:ext cx="3017520" cy="7772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418320" y="2404872"/>
            <a:ext cx="2011680" cy="7772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2450592"/>
            <a:ext cx="2834640" cy="320040"/>
          </a:xfrm>
          <a:prstGeom prst="rect">
            <a:avLst/>
          </a:prstGeom>
          <a:noFill/>
        </p:spPr>
        <p:txBody>
          <a:bodyPr wrap="square">
            <a:spAutoFit/>
          </a:bodyPr>
          <a:lstStyle/>
          <a:p>
            <a:pPr algn="l"/>
            <a:r>
              <a:rPr sz="1200" b="1" i="0">
                <a:solidFill>
                  <a:srgbClr val="0A1F44"/>
                </a:solidFill>
                <a:latin typeface="Calibri"/>
              </a:rPr>
              <a:t>Cloud VPS Hosting</a:t>
            </a:r>
          </a:p>
        </p:txBody>
      </p:sp>
      <p:sp>
        <p:nvSpPr>
          <p:cNvPr id="22" name="TextBox 21"/>
          <p:cNvSpPr txBox="1"/>
          <p:nvPr/>
        </p:nvSpPr>
        <p:spPr>
          <a:xfrm>
            <a:off x="6492240" y="2770632"/>
            <a:ext cx="2834640" cy="365760"/>
          </a:xfrm>
          <a:prstGeom prst="rect">
            <a:avLst/>
          </a:prstGeom>
          <a:noFill/>
        </p:spPr>
        <p:txBody>
          <a:bodyPr wrap="square">
            <a:spAutoFit/>
          </a:bodyPr>
          <a:lstStyle/>
          <a:p>
            <a:pPr algn="l"/>
            <a:r>
              <a:rPr sz="1000" b="0" i="0" dirty="0">
                <a:solidFill>
                  <a:srgbClr val="888888"/>
                </a:solidFill>
                <a:latin typeface="Calibri"/>
              </a:rPr>
              <a:t>12 CPU · 24 GB RAM · 2 TB SSD</a:t>
            </a:r>
          </a:p>
        </p:txBody>
      </p:sp>
      <p:sp>
        <p:nvSpPr>
          <p:cNvPr id="23" name="TextBox 22"/>
          <p:cNvSpPr txBox="1"/>
          <p:nvPr/>
        </p:nvSpPr>
        <p:spPr>
          <a:xfrm>
            <a:off x="9509760" y="2542032"/>
            <a:ext cx="1828800" cy="457200"/>
          </a:xfrm>
          <a:prstGeom prst="rect">
            <a:avLst/>
          </a:prstGeom>
          <a:noFill/>
        </p:spPr>
        <p:txBody>
          <a:bodyPr wrap="square">
            <a:spAutoFit/>
          </a:bodyPr>
          <a:lstStyle/>
          <a:p>
            <a:pPr algn="r"/>
            <a:r>
              <a:rPr sz="1400" b="1" i="0">
                <a:solidFill>
                  <a:srgbClr val="2D2D2D"/>
                </a:solidFill>
                <a:latin typeface="Calibri"/>
              </a:rPr>
              <a:t>$1,000 / year</a:t>
            </a:r>
          </a:p>
        </p:txBody>
      </p:sp>
      <p:sp>
        <p:nvSpPr>
          <p:cNvPr id="24" name="Rectangle 23"/>
          <p:cNvSpPr/>
          <p:nvPr/>
        </p:nvSpPr>
        <p:spPr>
          <a:xfrm>
            <a:off x="6400800" y="3227832"/>
            <a:ext cx="3017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418320" y="3227832"/>
            <a:ext cx="201168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61066" y="3273552"/>
            <a:ext cx="3347951" cy="261610"/>
          </a:xfrm>
          <a:prstGeom prst="rect">
            <a:avLst/>
          </a:prstGeom>
          <a:noFill/>
        </p:spPr>
        <p:txBody>
          <a:bodyPr wrap="square">
            <a:spAutoFit/>
          </a:bodyPr>
          <a:lstStyle/>
          <a:p>
            <a:pPr algn="l"/>
            <a:r>
              <a:rPr sz="1100" b="1" i="0" dirty="0">
                <a:solidFill>
                  <a:srgbClr val="0A1F44"/>
                </a:solidFill>
                <a:latin typeface="Calibri"/>
              </a:rPr>
              <a:t>System Development,</a:t>
            </a:r>
            <a:r>
              <a:rPr lang="en-US" sz="1100" b="1" i="0" dirty="0">
                <a:solidFill>
                  <a:srgbClr val="0A1F44"/>
                </a:solidFill>
                <a:latin typeface="Calibri"/>
              </a:rPr>
              <a:t> </a:t>
            </a:r>
            <a:r>
              <a:rPr sz="1100" b="1" i="0" dirty="0">
                <a:solidFill>
                  <a:srgbClr val="0A1F44"/>
                </a:solidFill>
                <a:latin typeface="Calibri"/>
              </a:rPr>
              <a:t>Deployment &amp; Support</a:t>
            </a:r>
          </a:p>
        </p:txBody>
      </p:sp>
      <p:sp>
        <p:nvSpPr>
          <p:cNvPr id="27" name="TextBox 26"/>
          <p:cNvSpPr txBox="1"/>
          <p:nvPr/>
        </p:nvSpPr>
        <p:spPr>
          <a:xfrm>
            <a:off x="6492240" y="3510464"/>
            <a:ext cx="2834640" cy="365760"/>
          </a:xfrm>
          <a:prstGeom prst="rect">
            <a:avLst/>
          </a:prstGeom>
          <a:noFill/>
        </p:spPr>
        <p:txBody>
          <a:bodyPr wrap="square">
            <a:spAutoFit/>
          </a:bodyPr>
          <a:lstStyle/>
          <a:p>
            <a:pPr algn="l"/>
            <a:r>
              <a:rPr sz="1000" b="0" i="0" dirty="0">
                <a:solidFill>
                  <a:srgbClr val="888888"/>
                </a:solidFill>
                <a:latin typeface="Calibri"/>
              </a:rPr>
              <a:t>Moodle setup, custom modules,
ongoing technical support</a:t>
            </a:r>
          </a:p>
        </p:txBody>
      </p:sp>
      <p:sp>
        <p:nvSpPr>
          <p:cNvPr id="28" name="TextBox 27"/>
          <p:cNvSpPr txBox="1"/>
          <p:nvPr/>
        </p:nvSpPr>
        <p:spPr>
          <a:xfrm>
            <a:off x="9509760" y="3364992"/>
            <a:ext cx="1828800" cy="457200"/>
          </a:xfrm>
          <a:prstGeom prst="rect">
            <a:avLst/>
          </a:prstGeom>
          <a:noFill/>
        </p:spPr>
        <p:txBody>
          <a:bodyPr wrap="square">
            <a:spAutoFit/>
          </a:bodyPr>
          <a:lstStyle/>
          <a:p>
            <a:pPr algn="r"/>
            <a:r>
              <a:rPr sz="1400" b="1" i="0">
                <a:solidFill>
                  <a:srgbClr val="2D2D2D"/>
                </a:solidFill>
                <a:latin typeface="Calibri"/>
              </a:rPr>
              <a:t>$1,000 / year</a:t>
            </a:r>
          </a:p>
        </p:txBody>
      </p:sp>
      <p:sp>
        <p:nvSpPr>
          <p:cNvPr id="29" name="Rectangle 28"/>
          <p:cNvSpPr/>
          <p:nvPr/>
        </p:nvSpPr>
        <p:spPr>
          <a:xfrm>
            <a:off x="6400800" y="4050792"/>
            <a:ext cx="3017520" cy="7772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418320" y="4050792"/>
            <a:ext cx="2011680" cy="7772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2240" y="4096512"/>
            <a:ext cx="2834640" cy="320040"/>
          </a:xfrm>
          <a:prstGeom prst="rect">
            <a:avLst/>
          </a:prstGeom>
          <a:noFill/>
        </p:spPr>
        <p:txBody>
          <a:bodyPr wrap="square">
            <a:spAutoFit/>
          </a:bodyPr>
          <a:lstStyle/>
          <a:p>
            <a:pPr algn="l"/>
            <a:r>
              <a:rPr sz="1200" b="1" i="0">
                <a:solidFill>
                  <a:srgbClr val="0A1F44"/>
                </a:solidFill>
                <a:latin typeface="Calibri"/>
              </a:rPr>
              <a:t>Training &amp; Capacity Building</a:t>
            </a:r>
          </a:p>
        </p:txBody>
      </p:sp>
      <p:sp>
        <p:nvSpPr>
          <p:cNvPr id="32" name="TextBox 31"/>
          <p:cNvSpPr txBox="1"/>
          <p:nvPr/>
        </p:nvSpPr>
        <p:spPr>
          <a:xfrm>
            <a:off x="6513022" y="4312642"/>
            <a:ext cx="2834640" cy="365760"/>
          </a:xfrm>
          <a:prstGeom prst="rect">
            <a:avLst/>
          </a:prstGeom>
          <a:noFill/>
        </p:spPr>
        <p:txBody>
          <a:bodyPr wrap="square">
            <a:spAutoFit/>
          </a:bodyPr>
          <a:lstStyle/>
          <a:p>
            <a:pPr algn="l"/>
            <a:r>
              <a:rPr sz="1000" b="0" i="0" dirty="0">
                <a:solidFill>
                  <a:srgbClr val="888888"/>
                </a:solidFill>
                <a:latin typeface="Calibri"/>
              </a:rPr>
              <a:t>Faculty, student &amp; admin
training workshops + materials</a:t>
            </a:r>
          </a:p>
        </p:txBody>
      </p:sp>
      <p:sp>
        <p:nvSpPr>
          <p:cNvPr id="33" name="TextBox 32"/>
          <p:cNvSpPr txBox="1"/>
          <p:nvPr/>
        </p:nvSpPr>
        <p:spPr>
          <a:xfrm>
            <a:off x="9509760" y="4187952"/>
            <a:ext cx="1828800" cy="457200"/>
          </a:xfrm>
          <a:prstGeom prst="rect">
            <a:avLst/>
          </a:prstGeom>
          <a:noFill/>
        </p:spPr>
        <p:txBody>
          <a:bodyPr wrap="square">
            <a:spAutoFit/>
          </a:bodyPr>
          <a:lstStyle/>
          <a:p>
            <a:pPr algn="r"/>
            <a:r>
              <a:rPr sz="1400" b="1" i="0">
                <a:solidFill>
                  <a:srgbClr val="2D2D2D"/>
                </a:solidFill>
                <a:latin typeface="Calibri"/>
              </a:rPr>
              <a:t>$500</a:t>
            </a:r>
          </a:p>
        </p:txBody>
      </p:sp>
      <p:sp>
        <p:nvSpPr>
          <p:cNvPr id="34" name="Rectangle 33"/>
          <p:cNvSpPr/>
          <p:nvPr/>
        </p:nvSpPr>
        <p:spPr>
          <a:xfrm>
            <a:off x="6400800" y="4873752"/>
            <a:ext cx="5029200" cy="41148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92240" y="4919472"/>
            <a:ext cx="2834640" cy="320040"/>
          </a:xfrm>
          <a:prstGeom prst="rect">
            <a:avLst/>
          </a:prstGeom>
          <a:noFill/>
        </p:spPr>
        <p:txBody>
          <a:bodyPr wrap="square">
            <a:spAutoFit/>
          </a:bodyPr>
          <a:lstStyle/>
          <a:p>
            <a:pPr algn="l"/>
            <a:r>
              <a:rPr sz="1300" b="1" i="0">
                <a:solidFill>
                  <a:srgbClr val="C89616"/>
                </a:solidFill>
                <a:latin typeface="Calibri"/>
              </a:rPr>
              <a:t>TOTAL ANNUAL COST</a:t>
            </a:r>
          </a:p>
        </p:txBody>
      </p:sp>
      <p:sp>
        <p:nvSpPr>
          <p:cNvPr id="36" name="TextBox 35"/>
          <p:cNvSpPr txBox="1"/>
          <p:nvPr/>
        </p:nvSpPr>
        <p:spPr>
          <a:xfrm>
            <a:off x="9509760" y="4919472"/>
            <a:ext cx="1828800" cy="320040"/>
          </a:xfrm>
          <a:prstGeom prst="rect">
            <a:avLst/>
          </a:prstGeom>
          <a:noFill/>
        </p:spPr>
        <p:txBody>
          <a:bodyPr wrap="square">
            <a:spAutoFit/>
          </a:bodyPr>
          <a:lstStyle/>
          <a:p>
            <a:pPr algn="r"/>
            <a:r>
              <a:rPr sz="1600" b="1" i="0">
                <a:solidFill>
                  <a:srgbClr val="FFFFFF"/>
                </a:solidFill>
                <a:latin typeface="Calibri"/>
              </a:rPr>
              <a:t>$2,500</a:t>
            </a:r>
          </a:p>
        </p:txBody>
      </p:sp>
      <p:sp>
        <p:nvSpPr>
          <p:cNvPr id="37" name="Rectangle 36"/>
          <p:cNvSpPr/>
          <p:nvPr/>
        </p:nvSpPr>
        <p:spPr>
          <a:xfrm>
            <a:off x="822960" y="5760720"/>
            <a:ext cx="10545775" cy="502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05840" y="5806440"/>
            <a:ext cx="10180015" cy="411480"/>
          </a:xfrm>
          <a:prstGeom prst="rect">
            <a:avLst/>
          </a:prstGeom>
          <a:noFill/>
        </p:spPr>
        <p:txBody>
          <a:bodyPr wrap="square">
            <a:spAutoFit/>
          </a:bodyPr>
          <a:lstStyle/>
          <a:p>
            <a:pPr algn="ctr"/>
            <a:r>
              <a:rPr sz="1200" b="1" i="0">
                <a:solidFill>
                  <a:srgbClr val="1E8C52"/>
                </a:solidFill>
                <a:latin typeface="Calibri"/>
              </a:rPr>
              <a:t>The project is fully self-sustaining: a modest UGX 5,000 technology fee per student per semester covers all costs with a $278 annual surplus.</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0A1F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01968"/>
            <a:ext cx="12191695"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6656832"/>
            <a:ext cx="5486400" cy="182880"/>
          </a:xfrm>
          <a:prstGeom prst="rect">
            <a:avLst/>
          </a:prstGeom>
          <a:noFill/>
        </p:spPr>
        <p:txBody>
          <a:bodyPr wrap="square">
            <a:spAutoFit/>
          </a:bodyPr>
          <a:lstStyle/>
          <a:p>
            <a:pPr algn="l"/>
            <a:r>
              <a:rPr sz="800" b="0" i="0">
                <a:solidFill>
                  <a:srgbClr val="888888"/>
                </a:solidFill>
                <a:latin typeface="Calibri"/>
              </a:rPr>
              <a:t>Muteesa I Royal University  |  ODeL Strategic Proposal</a:t>
            </a:r>
          </a:p>
        </p:txBody>
      </p:sp>
      <p:sp>
        <p:nvSpPr>
          <p:cNvPr id="5" name="TextBox 4"/>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17/18</a:t>
            </a:r>
          </a:p>
        </p:txBody>
      </p:sp>
      <p:sp>
        <p:nvSpPr>
          <p:cNvPr id="6" name="TextBox 5"/>
          <p:cNvSpPr txBox="1"/>
          <p:nvPr/>
        </p:nvSpPr>
        <p:spPr>
          <a:xfrm>
            <a:off x="822960" y="502920"/>
            <a:ext cx="10545775" cy="685800"/>
          </a:xfrm>
          <a:prstGeom prst="rect">
            <a:avLst/>
          </a:prstGeom>
          <a:noFill/>
        </p:spPr>
        <p:txBody>
          <a:bodyPr wrap="square">
            <a:spAutoFit/>
          </a:bodyPr>
          <a:lstStyle/>
          <a:p>
            <a:pPr algn="l"/>
            <a:r>
              <a:rPr sz="3200" b="1" i="0">
                <a:solidFill>
                  <a:srgbClr val="0A1F44"/>
                </a:solidFill>
                <a:latin typeface="Calibri Light"/>
              </a:rPr>
              <a:t>Risks &amp; How We’ll Manage Them</a:t>
            </a:r>
          </a:p>
        </p:txBody>
      </p:sp>
      <p:sp>
        <p:nvSpPr>
          <p:cNvPr id="7" name="Rectangle 6"/>
          <p:cNvSpPr/>
          <p:nvPr/>
        </p:nvSpPr>
        <p:spPr>
          <a:xfrm>
            <a:off x="822960" y="1143000"/>
            <a:ext cx="1463040" cy="508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22960" y="1508760"/>
            <a:ext cx="2560320" cy="365760"/>
          </a:xfrm>
          <a:prstGeom prst="rect">
            <a:avLst/>
          </a:prstGeom>
          <a:solidFill>
            <a:srgbClr val="D4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1527048"/>
            <a:ext cx="2286000" cy="320040"/>
          </a:xfrm>
          <a:prstGeom prst="rect">
            <a:avLst/>
          </a:prstGeom>
          <a:noFill/>
        </p:spPr>
        <p:txBody>
          <a:bodyPr wrap="square">
            <a:spAutoFit/>
          </a:bodyPr>
          <a:lstStyle/>
          <a:p>
            <a:pPr algn="l"/>
            <a:r>
              <a:rPr sz="1300" b="1" i="0">
                <a:solidFill>
                  <a:srgbClr val="FFFFFF"/>
                </a:solidFill>
                <a:latin typeface="Calibri"/>
              </a:rPr>
              <a:t>Limited Internet</a:t>
            </a:r>
          </a:p>
        </p:txBody>
      </p:sp>
      <p:sp>
        <p:nvSpPr>
          <p:cNvPr id="10" name="TextBox 9"/>
          <p:cNvSpPr txBox="1"/>
          <p:nvPr/>
        </p:nvSpPr>
        <p:spPr>
          <a:xfrm>
            <a:off x="822960" y="1920240"/>
            <a:ext cx="4846320" cy="457200"/>
          </a:xfrm>
          <a:prstGeom prst="rect">
            <a:avLst/>
          </a:prstGeom>
          <a:noFill/>
        </p:spPr>
        <p:txBody>
          <a:bodyPr wrap="square">
            <a:spAutoFit/>
          </a:bodyPr>
          <a:lstStyle/>
          <a:p>
            <a:pPr algn="l"/>
            <a:r>
              <a:rPr sz="1300" b="0" i="1">
                <a:solidFill>
                  <a:srgbClr val="888888"/>
                </a:solidFill>
                <a:latin typeface="Calibri"/>
              </a:rPr>
              <a:t>Some students have poor connectivity.</a:t>
            </a:r>
          </a:p>
        </p:txBody>
      </p:sp>
      <p:sp>
        <p:nvSpPr>
          <p:cNvPr id="11" name="TextBox 10"/>
          <p:cNvSpPr txBox="1"/>
          <p:nvPr/>
        </p:nvSpPr>
        <p:spPr>
          <a:xfrm>
            <a:off x="5669280" y="1645920"/>
            <a:ext cx="457200" cy="365760"/>
          </a:xfrm>
          <a:prstGeom prst="rect">
            <a:avLst/>
          </a:prstGeom>
          <a:noFill/>
        </p:spPr>
        <p:txBody>
          <a:bodyPr wrap="square">
            <a:spAutoFit/>
          </a:bodyPr>
          <a:lstStyle/>
          <a:p>
            <a:pPr algn="ctr"/>
            <a:r>
              <a:rPr sz="2200" b="1" i="0">
                <a:solidFill>
                  <a:srgbClr val="1E8C52"/>
                </a:solidFill>
                <a:latin typeface="Calibri"/>
              </a:rPr>
              <a:t>→</a:t>
            </a:r>
          </a:p>
        </p:txBody>
      </p:sp>
      <p:sp>
        <p:nvSpPr>
          <p:cNvPr id="12" name="Rectangle 11"/>
          <p:cNvSpPr/>
          <p:nvPr/>
        </p:nvSpPr>
        <p:spPr>
          <a:xfrm>
            <a:off x="6126480" y="1508760"/>
            <a:ext cx="5212080" cy="9601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60" y="1645920"/>
            <a:ext cx="4846320" cy="584775"/>
          </a:xfrm>
          <a:prstGeom prst="rect">
            <a:avLst/>
          </a:prstGeom>
          <a:noFill/>
        </p:spPr>
        <p:txBody>
          <a:bodyPr wrap="square">
            <a:spAutoFit/>
          </a:bodyPr>
          <a:lstStyle/>
          <a:p>
            <a:pPr algn="l"/>
            <a:r>
              <a:rPr sz="1600" b="0" i="0" dirty="0">
                <a:solidFill>
                  <a:srgbClr val="2D2D2D"/>
                </a:solidFill>
                <a:latin typeface="Calibri"/>
              </a:rPr>
              <a:t>Mobile-</a:t>
            </a:r>
            <a:r>
              <a:rPr sz="1600" b="0" i="0" dirty="0" err="1">
                <a:solidFill>
                  <a:srgbClr val="2D2D2D"/>
                </a:solidFill>
                <a:latin typeface="Calibri"/>
              </a:rPr>
              <a:t>optimised</a:t>
            </a:r>
            <a:r>
              <a:rPr sz="1600" b="0" i="0" dirty="0">
                <a:solidFill>
                  <a:srgbClr val="2D2D2D"/>
                </a:solidFill>
                <a:latin typeface="Calibri"/>
              </a:rPr>
              <a:t> platform, offline content downloads, SMS notifications, low-bandwidth mode.</a:t>
            </a:r>
          </a:p>
        </p:txBody>
      </p:sp>
      <p:sp>
        <p:nvSpPr>
          <p:cNvPr id="14" name="Rectangle 13"/>
          <p:cNvSpPr/>
          <p:nvPr/>
        </p:nvSpPr>
        <p:spPr>
          <a:xfrm>
            <a:off x="822960" y="2697480"/>
            <a:ext cx="2560320" cy="365760"/>
          </a:xfrm>
          <a:prstGeom prst="rect">
            <a:avLst/>
          </a:prstGeom>
          <a:solidFill>
            <a:srgbClr val="D4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2715768"/>
            <a:ext cx="2286000" cy="320040"/>
          </a:xfrm>
          <a:prstGeom prst="rect">
            <a:avLst/>
          </a:prstGeom>
          <a:noFill/>
        </p:spPr>
        <p:txBody>
          <a:bodyPr wrap="square">
            <a:spAutoFit/>
          </a:bodyPr>
          <a:lstStyle/>
          <a:p>
            <a:pPr algn="l"/>
            <a:r>
              <a:rPr sz="1300" b="1" i="0">
                <a:solidFill>
                  <a:srgbClr val="FFFFFF"/>
                </a:solidFill>
                <a:latin typeface="Calibri"/>
              </a:rPr>
              <a:t>Adoption Resistance</a:t>
            </a:r>
          </a:p>
        </p:txBody>
      </p:sp>
      <p:sp>
        <p:nvSpPr>
          <p:cNvPr id="16" name="TextBox 15"/>
          <p:cNvSpPr txBox="1"/>
          <p:nvPr/>
        </p:nvSpPr>
        <p:spPr>
          <a:xfrm>
            <a:off x="822960" y="3108960"/>
            <a:ext cx="4846320" cy="457200"/>
          </a:xfrm>
          <a:prstGeom prst="rect">
            <a:avLst/>
          </a:prstGeom>
          <a:noFill/>
        </p:spPr>
        <p:txBody>
          <a:bodyPr wrap="square">
            <a:spAutoFit/>
          </a:bodyPr>
          <a:lstStyle/>
          <a:p>
            <a:pPr algn="l"/>
            <a:r>
              <a:rPr sz="1300" b="0" i="1">
                <a:solidFill>
                  <a:srgbClr val="888888"/>
                </a:solidFill>
                <a:latin typeface="Calibri"/>
              </a:rPr>
              <a:t>Faculty or students may resist digital tools.</a:t>
            </a:r>
          </a:p>
        </p:txBody>
      </p:sp>
      <p:sp>
        <p:nvSpPr>
          <p:cNvPr id="17" name="TextBox 16"/>
          <p:cNvSpPr txBox="1"/>
          <p:nvPr/>
        </p:nvSpPr>
        <p:spPr>
          <a:xfrm>
            <a:off x="5669280" y="2834640"/>
            <a:ext cx="457200" cy="365760"/>
          </a:xfrm>
          <a:prstGeom prst="rect">
            <a:avLst/>
          </a:prstGeom>
          <a:noFill/>
        </p:spPr>
        <p:txBody>
          <a:bodyPr wrap="square">
            <a:spAutoFit/>
          </a:bodyPr>
          <a:lstStyle/>
          <a:p>
            <a:pPr algn="ctr"/>
            <a:r>
              <a:rPr sz="2200" b="1" i="0">
                <a:solidFill>
                  <a:srgbClr val="1E8C52"/>
                </a:solidFill>
                <a:latin typeface="Calibri"/>
              </a:rPr>
              <a:t>→</a:t>
            </a:r>
          </a:p>
        </p:txBody>
      </p:sp>
      <p:sp>
        <p:nvSpPr>
          <p:cNvPr id="18" name="Rectangle 17"/>
          <p:cNvSpPr/>
          <p:nvPr/>
        </p:nvSpPr>
        <p:spPr>
          <a:xfrm>
            <a:off x="6126480" y="2697480"/>
            <a:ext cx="5212080" cy="9601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9360" y="2834640"/>
            <a:ext cx="4846320" cy="646331"/>
          </a:xfrm>
          <a:prstGeom prst="rect">
            <a:avLst/>
          </a:prstGeom>
          <a:noFill/>
        </p:spPr>
        <p:txBody>
          <a:bodyPr wrap="square">
            <a:spAutoFit/>
          </a:bodyPr>
          <a:lstStyle/>
          <a:p>
            <a:pPr algn="l"/>
            <a:r>
              <a:rPr b="0" i="0" dirty="0">
                <a:solidFill>
                  <a:srgbClr val="2D2D2D"/>
                </a:solidFill>
                <a:latin typeface="Calibri"/>
              </a:rPr>
              <a:t>Hands-on training, peer champions </a:t>
            </a:r>
            <a:r>
              <a:rPr b="0" i="0" dirty="0" err="1">
                <a:solidFill>
                  <a:srgbClr val="2D2D2D"/>
                </a:solidFill>
                <a:latin typeface="Calibri"/>
              </a:rPr>
              <a:t>programme</a:t>
            </a:r>
            <a:r>
              <a:rPr b="0" i="0" dirty="0">
                <a:solidFill>
                  <a:srgbClr val="2D2D2D"/>
                </a:solidFill>
                <a:latin typeface="Calibri"/>
              </a:rPr>
              <a:t>, phased rollout with early adopters.</a:t>
            </a:r>
          </a:p>
        </p:txBody>
      </p:sp>
      <p:sp>
        <p:nvSpPr>
          <p:cNvPr id="20" name="Rectangle 19"/>
          <p:cNvSpPr/>
          <p:nvPr/>
        </p:nvSpPr>
        <p:spPr>
          <a:xfrm>
            <a:off x="822960" y="3886200"/>
            <a:ext cx="2560320" cy="365760"/>
          </a:xfrm>
          <a:prstGeom prst="rect">
            <a:avLst/>
          </a:prstGeom>
          <a:solidFill>
            <a:srgbClr val="D4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3904488"/>
            <a:ext cx="2286000" cy="320040"/>
          </a:xfrm>
          <a:prstGeom prst="rect">
            <a:avLst/>
          </a:prstGeom>
          <a:noFill/>
        </p:spPr>
        <p:txBody>
          <a:bodyPr wrap="square">
            <a:spAutoFit/>
          </a:bodyPr>
          <a:lstStyle/>
          <a:p>
            <a:pPr algn="l"/>
            <a:r>
              <a:rPr sz="1300" b="1" i="0">
                <a:solidFill>
                  <a:srgbClr val="FFFFFF"/>
                </a:solidFill>
                <a:latin typeface="Calibri"/>
              </a:rPr>
              <a:t>Budget Constraints</a:t>
            </a:r>
          </a:p>
        </p:txBody>
      </p:sp>
      <p:sp>
        <p:nvSpPr>
          <p:cNvPr id="22" name="TextBox 21"/>
          <p:cNvSpPr txBox="1"/>
          <p:nvPr/>
        </p:nvSpPr>
        <p:spPr>
          <a:xfrm>
            <a:off x="822960" y="4297680"/>
            <a:ext cx="4846320" cy="457200"/>
          </a:xfrm>
          <a:prstGeom prst="rect">
            <a:avLst/>
          </a:prstGeom>
          <a:noFill/>
        </p:spPr>
        <p:txBody>
          <a:bodyPr wrap="square">
            <a:spAutoFit/>
          </a:bodyPr>
          <a:lstStyle/>
          <a:p>
            <a:pPr algn="l"/>
            <a:r>
              <a:rPr sz="1300" b="0" i="1">
                <a:solidFill>
                  <a:srgbClr val="888888"/>
                </a:solidFill>
                <a:latin typeface="Calibri"/>
              </a:rPr>
              <a:t>Limited funds for upfront investment.</a:t>
            </a:r>
          </a:p>
        </p:txBody>
      </p:sp>
      <p:sp>
        <p:nvSpPr>
          <p:cNvPr id="23" name="TextBox 22"/>
          <p:cNvSpPr txBox="1"/>
          <p:nvPr/>
        </p:nvSpPr>
        <p:spPr>
          <a:xfrm>
            <a:off x="5669280" y="4023360"/>
            <a:ext cx="457200" cy="365760"/>
          </a:xfrm>
          <a:prstGeom prst="rect">
            <a:avLst/>
          </a:prstGeom>
          <a:noFill/>
        </p:spPr>
        <p:txBody>
          <a:bodyPr wrap="square">
            <a:spAutoFit/>
          </a:bodyPr>
          <a:lstStyle/>
          <a:p>
            <a:pPr algn="ctr"/>
            <a:r>
              <a:rPr sz="2200" b="1" i="0">
                <a:solidFill>
                  <a:srgbClr val="1E8C52"/>
                </a:solidFill>
                <a:latin typeface="Calibri"/>
              </a:rPr>
              <a:t>→</a:t>
            </a:r>
          </a:p>
        </p:txBody>
      </p:sp>
      <p:sp>
        <p:nvSpPr>
          <p:cNvPr id="24" name="Rectangle 23"/>
          <p:cNvSpPr/>
          <p:nvPr/>
        </p:nvSpPr>
        <p:spPr>
          <a:xfrm>
            <a:off x="6126480" y="3886200"/>
            <a:ext cx="5212080" cy="9601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4023360"/>
            <a:ext cx="4846320" cy="646331"/>
          </a:xfrm>
          <a:prstGeom prst="rect">
            <a:avLst/>
          </a:prstGeom>
          <a:noFill/>
        </p:spPr>
        <p:txBody>
          <a:bodyPr wrap="square">
            <a:spAutoFit/>
          </a:bodyPr>
          <a:lstStyle/>
          <a:p>
            <a:pPr algn="l"/>
            <a:r>
              <a:rPr b="0" i="0" dirty="0">
                <a:solidFill>
                  <a:srgbClr val="2D2D2D"/>
                </a:solidFill>
                <a:latin typeface="Calibri"/>
              </a:rPr>
              <a:t>Self-funding via tech fee, open-source tools, clear ROI projections, phased spending.</a:t>
            </a:r>
          </a:p>
        </p:txBody>
      </p:sp>
      <p:sp>
        <p:nvSpPr>
          <p:cNvPr id="26" name="Rectangle 25"/>
          <p:cNvSpPr/>
          <p:nvPr/>
        </p:nvSpPr>
        <p:spPr>
          <a:xfrm>
            <a:off x="822960" y="5074920"/>
            <a:ext cx="2560320" cy="365760"/>
          </a:xfrm>
          <a:prstGeom prst="rect">
            <a:avLst/>
          </a:prstGeom>
          <a:solidFill>
            <a:srgbClr val="D4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5093208"/>
            <a:ext cx="2286000" cy="320040"/>
          </a:xfrm>
          <a:prstGeom prst="rect">
            <a:avLst/>
          </a:prstGeom>
          <a:noFill/>
        </p:spPr>
        <p:txBody>
          <a:bodyPr wrap="square">
            <a:spAutoFit/>
          </a:bodyPr>
          <a:lstStyle/>
          <a:p>
            <a:pPr algn="l"/>
            <a:r>
              <a:rPr sz="1300" b="1" i="0" dirty="0">
                <a:solidFill>
                  <a:srgbClr val="FFFFFF"/>
                </a:solidFill>
                <a:latin typeface="Calibri"/>
              </a:rPr>
              <a:t>Long-Term Sustainability</a:t>
            </a:r>
          </a:p>
        </p:txBody>
      </p:sp>
      <p:sp>
        <p:nvSpPr>
          <p:cNvPr id="28" name="TextBox 27"/>
          <p:cNvSpPr txBox="1"/>
          <p:nvPr/>
        </p:nvSpPr>
        <p:spPr>
          <a:xfrm>
            <a:off x="822960" y="5486400"/>
            <a:ext cx="4846320" cy="457200"/>
          </a:xfrm>
          <a:prstGeom prst="rect">
            <a:avLst/>
          </a:prstGeom>
          <a:noFill/>
        </p:spPr>
        <p:txBody>
          <a:bodyPr wrap="square">
            <a:spAutoFit/>
          </a:bodyPr>
          <a:lstStyle/>
          <a:p>
            <a:pPr algn="l"/>
            <a:r>
              <a:rPr sz="1300" b="0" i="1" dirty="0">
                <a:solidFill>
                  <a:srgbClr val="888888"/>
                </a:solidFill>
                <a:latin typeface="Calibri"/>
              </a:rPr>
              <a:t>Concern about maintenance after setup.</a:t>
            </a:r>
          </a:p>
        </p:txBody>
      </p:sp>
      <p:sp>
        <p:nvSpPr>
          <p:cNvPr id="29" name="TextBox 28"/>
          <p:cNvSpPr txBox="1"/>
          <p:nvPr/>
        </p:nvSpPr>
        <p:spPr>
          <a:xfrm>
            <a:off x="5669280" y="5212080"/>
            <a:ext cx="457200" cy="430887"/>
          </a:xfrm>
          <a:prstGeom prst="rect">
            <a:avLst/>
          </a:prstGeom>
          <a:noFill/>
        </p:spPr>
        <p:txBody>
          <a:bodyPr wrap="square">
            <a:spAutoFit/>
          </a:bodyPr>
          <a:lstStyle/>
          <a:p>
            <a:pPr algn="ctr"/>
            <a:r>
              <a:rPr sz="2200" b="1" i="0" dirty="0">
                <a:solidFill>
                  <a:srgbClr val="1E8C52"/>
                </a:solidFill>
                <a:latin typeface="Calibri"/>
              </a:rPr>
              <a:t>→</a:t>
            </a:r>
          </a:p>
        </p:txBody>
      </p:sp>
      <p:sp>
        <p:nvSpPr>
          <p:cNvPr id="30" name="Rectangle 29"/>
          <p:cNvSpPr/>
          <p:nvPr/>
        </p:nvSpPr>
        <p:spPr>
          <a:xfrm>
            <a:off x="6126480" y="5074920"/>
            <a:ext cx="5212080" cy="9601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09360" y="5212080"/>
            <a:ext cx="4846320" cy="646331"/>
          </a:xfrm>
          <a:prstGeom prst="rect">
            <a:avLst/>
          </a:prstGeom>
          <a:noFill/>
        </p:spPr>
        <p:txBody>
          <a:bodyPr wrap="square">
            <a:spAutoFit/>
          </a:bodyPr>
          <a:lstStyle/>
          <a:p>
            <a:pPr algn="l"/>
            <a:r>
              <a:rPr b="0" i="0" dirty="0">
                <a:solidFill>
                  <a:srgbClr val="2D2D2D"/>
                </a:solidFill>
                <a:latin typeface="Calibri"/>
              </a:rPr>
              <a:t>Knowledge transfer to IT staff, full documentation, automated monitoring, maintenance plan.</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2" name="Rectangle 1"/>
          <p:cNvSpPr/>
          <p:nvPr/>
        </p:nvSpPr>
        <p:spPr>
          <a:xfrm>
            <a:off x="0" y="0"/>
            <a:ext cx="274320" cy="68580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005840" y="457200"/>
            <a:ext cx="9601200" cy="127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731520"/>
            <a:ext cx="7315200" cy="685800"/>
          </a:xfrm>
          <a:prstGeom prst="rect">
            <a:avLst/>
          </a:prstGeom>
          <a:noFill/>
        </p:spPr>
        <p:txBody>
          <a:bodyPr wrap="square">
            <a:spAutoFit/>
          </a:bodyPr>
          <a:lstStyle/>
          <a:p>
            <a:pPr algn="l"/>
            <a:r>
              <a:rPr sz="3600" b="1" i="0">
                <a:solidFill>
                  <a:srgbClr val="FFFFFF"/>
                </a:solidFill>
                <a:latin typeface="Calibri Light"/>
              </a:rPr>
              <a:t>Immediate Next Steps</a:t>
            </a:r>
          </a:p>
        </p:txBody>
      </p:sp>
      <p:sp>
        <p:nvSpPr>
          <p:cNvPr id="5" name="Rectangle 4"/>
          <p:cNvSpPr/>
          <p:nvPr/>
        </p:nvSpPr>
        <p:spPr>
          <a:xfrm>
            <a:off x="1005840" y="1371600"/>
            <a:ext cx="1645920" cy="381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05840" y="1691640"/>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728216"/>
            <a:ext cx="347472" cy="347472"/>
          </a:xfrm>
          <a:prstGeom prst="rect">
            <a:avLst/>
          </a:prstGeom>
          <a:noFill/>
        </p:spPr>
        <p:txBody>
          <a:bodyPr wrap="square">
            <a:spAutoFit/>
          </a:bodyPr>
          <a:lstStyle/>
          <a:p>
            <a:pPr algn="ctr"/>
            <a:r>
              <a:rPr sz="1800" b="1" i="0">
                <a:solidFill>
                  <a:srgbClr val="0A1F44"/>
                </a:solidFill>
                <a:latin typeface="Calibri"/>
              </a:rPr>
              <a:t>1</a:t>
            </a:r>
          </a:p>
        </p:txBody>
      </p:sp>
      <p:sp>
        <p:nvSpPr>
          <p:cNvPr id="8" name="TextBox 7"/>
          <p:cNvSpPr txBox="1"/>
          <p:nvPr/>
        </p:nvSpPr>
        <p:spPr>
          <a:xfrm>
            <a:off x="1600200" y="1737360"/>
            <a:ext cx="8686800" cy="365760"/>
          </a:xfrm>
          <a:prstGeom prst="rect">
            <a:avLst/>
          </a:prstGeom>
          <a:noFill/>
        </p:spPr>
        <p:txBody>
          <a:bodyPr wrap="square">
            <a:spAutoFit/>
          </a:bodyPr>
          <a:lstStyle/>
          <a:p>
            <a:pPr algn="l"/>
            <a:r>
              <a:rPr sz="1700" b="0" i="0">
                <a:solidFill>
                  <a:srgbClr val="FFFFFF"/>
                </a:solidFill>
                <a:latin typeface="Calibri"/>
              </a:rPr>
              <a:t>Approval to proceed with the ODeL restoration project</a:t>
            </a:r>
          </a:p>
        </p:txBody>
      </p:sp>
      <p:sp>
        <p:nvSpPr>
          <p:cNvPr id="9" name="Oval 8"/>
          <p:cNvSpPr/>
          <p:nvPr/>
        </p:nvSpPr>
        <p:spPr>
          <a:xfrm>
            <a:off x="1005840" y="2350008"/>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386584"/>
            <a:ext cx="347472" cy="347472"/>
          </a:xfrm>
          <a:prstGeom prst="rect">
            <a:avLst/>
          </a:prstGeom>
          <a:noFill/>
        </p:spPr>
        <p:txBody>
          <a:bodyPr wrap="square">
            <a:spAutoFit/>
          </a:bodyPr>
          <a:lstStyle/>
          <a:p>
            <a:pPr algn="ctr"/>
            <a:r>
              <a:rPr sz="1800" b="1" i="0">
                <a:solidFill>
                  <a:srgbClr val="0A1F44"/>
                </a:solidFill>
                <a:latin typeface="Calibri"/>
              </a:rPr>
              <a:t>2</a:t>
            </a:r>
          </a:p>
        </p:txBody>
      </p:sp>
      <p:sp>
        <p:nvSpPr>
          <p:cNvPr id="11" name="TextBox 10"/>
          <p:cNvSpPr txBox="1"/>
          <p:nvPr/>
        </p:nvSpPr>
        <p:spPr>
          <a:xfrm>
            <a:off x="1600200" y="2395728"/>
            <a:ext cx="8686800" cy="365760"/>
          </a:xfrm>
          <a:prstGeom prst="rect">
            <a:avLst/>
          </a:prstGeom>
          <a:noFill/>
        </p:spPr>
        <p:txBody>
          <a:bodyPr wrap="square">
            <a:spAutoFit/>
          </a:bodyPr>
          <a:lstStyle/>
          <a:p>
            <a:pPr algn="l"/>
            <a:r>
              <a:rPr sz="1700" b="0" i="0">
                <a:solidFill>
                  <a:srgbClr val="FFFFFF"/>
                </a:solidFill>
                <a:latin typeface="Calibri"/>
              </a:rPr>
              <a:t>Form a small ODeL Task Force — IT, Faculty, Admin representation</a:t>
            </a:r>
          </a:p>
        </p:txBody>
      </p:sp>
      <p:sp>
        <p:nvSpPr>
          <p:cNvPr id="12" name="Oval 11"/>
          <p:cNvSpPr/>
          <p:nvPr/>
        </p:nvSpPr>
        <p:spPr>
          <a:xfrm>
            <a:off x="1005840" y="3008376"/>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3044952"/>
            <a:ext cx="347472" cy="347472"/>
          </a:xfrm>
          <a:prstGeom prst="rect">
            <a:avLst/>
          </a:prstGeom>
          <a:noFill/>
        </p:spPr>
        <p:txBody>
          <a:bodyPr wrap="square">
            <a:spAutoFit/>
          </a:bodyPr>
          <a:lstStyle/>
          <a:p>
            <a:pPr algn="ctr"/>
            <a:r>
              <a:rPr sz="1800" b="1" i="0">
                <a:solidFill>
                  <a:srgbClr val="0A1F44"/>
                </a:solidFill>
                <a:latin typeface="Calibri"/>
              </a:rPr>
              <a:t>3</a:t>
            </a:r>
          </a:p>
        </p:txBody>
      </p:sp>
      <p:sp>
        <p:nvSpPr>
          <p:cNvPr id="14" name="TextBox 13"/>
          <p:cNvSpPr txBox="1"/>
          <p:nvPr/>
        </p:nvSpPr>
        <p:spPr>
          <a:xfrm>
            <a:off x="1600200" y="3054096"/>
            <a:ext cx="8686800" cy="365760"/>
          </a:xfrm>
          <a:prstGeom prst="rect">
            <a:avLst/>
          </a:prstGeom>
          <a:noFill/>
        </p:spPr>
        <p:txBody>
          <a:bodyPr wrap="square">
            <a:spAutoFit/>
          </a:bodyPr>
          <a:lstStyle/>
          <a:p>
            <a:pPr algn="l"/>
            <a:r>
              <a:rPr sz="1700" b="0" i="0">
                <a:solidFill>
                  <a:srgbClr val="FFFFFF"/>
                </a:solidFill>
                <a:latin typeface="Calibri"/>
              </a:rPr>
              <a:t>Approve the UGX 5,000 technology fee to fund the project</a:t>
            </a:r>
          </a:p>
        </p:txBody>
      </p:sp>
      <p:sp>
        <p:nvSpPr>
          <p:cNvPr id="15" name="Oval 14"/>
          <p:cNvSpPr/>
          <p:nvPr/>
        </p:nvSpPr>
        <p:spPr>
          <a:xfrm>
            <a:off x="1005840" y="3666744"/>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3703320"/>
            <a:ext cx="347472" cy="347472"/>
          </a:xfrm>
          <a:prstGeom prst="rect">
            <a:avLst/>
          </a:prstGeom>
          <a:noFill/>
        </p:spPr>
        <p:txBody>
          <a:bodyPr wrap="square">
            <a:spAutoFit/>
          </a:bodyPr>
          <a:lstStyle/>
          <a:p>
            <a:pPr algn="ctr"/>
            <a:r>
              <a:rPr sz="1800" b="1" i="0">
                <a:solidFill>
                  <a:srgbClr val="0A1F44"/>
                </a:solidFill>
                <a:latin typeface="Calibri"/>
              </a:rPr>
              <a:t>4</a:t>
            </a:r>
          </a:p>
        </p:txBody>
      </p:sp>
      <p:sp>
        <p:nvSpPr>
          <p:cNvPr id="17" name="TextBox 16"/>
          <p:cNvSpPr txBox="1"/>
          <p:nvPr/>
        </p:nvSpPr>
        <p:spPr>
          <a:xfrm>
            <a:off x="1600200" y="3712464"/>
            <a:ext cx="8686800" cy="365760"/>
          </a:xfrm>
          <a:prstGeom prst="rect">
            <a:avLst/>
          </a:prstGeom>
          <a:noFill/>
        </p:spPr>
        <p:txBody>
          <a:bodyPr wrap="square">
            <a:spAutoFit/>
          </a:bodyPr>
          <a:lstStyle/>
          <a:p>
            <a:pPr algn="l"/>
            <a:r>
              <a:rPr sz="1700" b="0" i="0">
                <a:solidFill>
                  <a:srgbClr val="FFFFFF"/>
                </a:solidFill>
                <a:latin typeface="Calibri"/>
              </a:rPr>
              <a:t>Procure Cloud VPS hosting and professional domain</a:t>
            </a:r>
          </a:p>
        </p:txBody>
      </p:sp>
      <p:sp>
        <p:nvSpPr>
          <p:cNvPr id="18" name="Oval 17"/>
          <p:cNvSpPr/>
          <p:nvPr/>
        </p:nvSpPr>
        <p:spPr>
          <a:xfrm>
            <a:off x="1005840" y="4325112"/>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361688"/>
            <a:ext cx="347472" cy="347472"/>
          </a:xfrm>
          <a:prstGeom prst="rect">
            <a:avLst/>
          </a:prstGeom>
          <a:noFill/>
        </p:spPr>
        <p:txBody>
          <a:bodyPr wrap="square">
            <a:spAutoFit/>
          </a:bodyPr>
          <a:lstStyle/>
          <a:p>
            <a:pPr algn="ctr"/>
            <a:r>
              <a:rPr sz="1800" b="1" i="0">
                <a:solidFill>
                  <a:srgbClr val="0A1F44"/>
                </a:solidFill>
                <a:latin typeface="Calibri"/>
              </a:rPr>
              <a:t>5</a:t>
            </a:r>
          </a:p>
        </p:txBody>
      </p:sp>
      <p:sp>
        <p:nvSpPr>
          <p:cNvPr id="20" name="TextBox 19"/>
          <p:cNvSpPr txBox="1"/>
          <p:nvPr/>
        </p:nvSpPr>
        <p:spPr>
          <a:xfrm>
            <a:off x="1600200" y="4370832"/>
            <a:ext cx="8686800" cy="365760"/>
          </a:xfrm>
          <a:prstGeom prst="rect">
            <a:avLst/>
          </a:prstGeom>
          <a:noFill/>
        </p:spPr>
        <p:txBody>
          <a:bodyPr wrap="square">
            <a:spAutoFit/>
          </a:bodyPr>
          <a:lstStyle/>
          <a:p>
            <a:pPr algn="l"/>
            <a:r>
              <a:rPr sz="1700" b="0" i="0">
                <a:solidFill>
                  <a:srgbClr val="FFFFFF"/>
                </a:solidFill>
                <a:latin typeface="Calibri"/>
              </a:rPr>
              <a:t>Begin Phase 1 pilot — first courses online within 90 days</a:t>
            </a:r>
          </a:p>
        </p:txBody>
      </p:sp>
      <p:sp>
        <p:nvSpPr>
          <p:cNvPr id="21" name="Oval 20"/>
          <p:cNvSpPr/>
          <p:nvPr/>
        </p:nvSpPr>
        <p:spPr>
          <a:xfrm>
            <a:off x="1005840" y="4983479"/>
            <a:ext cx="411480" cy="411480"/>
          </a:xfrm>
          <a:prstGeom prst="ellipse">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5020055"/>
            <a:ext cx="347472" cy="347472"/>
          </a:xfrm>
          <a:prstGeom prst="rect">
            <a:avLst/>
          </a:prstGeom>
          <a:noFill/>
        </p:spPr>
        <p:txBody>
          <a:bodyPr wrap="square">
            <a:spAutoFit/>
          </a:bodyPr>
          <a:lstStyle/>
          <a:p>
            <a:pPr algn="ctr"/>
            <a:r>
              <a:rPr sz="1800" b="1" i="0">
                <a:solidFill>
                  <a:srgbClr val="0A1F44"/>
                </a:solidFill>
                <a:latin typeface="Calibri"/>
              </a:rPr>
              <a:t>6</a:t>
            </a:r>
          </a:p>
        </p:txBody>
      </p:sp>
      <p:sp>
        <p:nvSpPr>
          <p:cNvPr id="23" name="TextBox 22"/>
          <p:cNvSpPr txBox="1"/>
          <p:nvPr/>
        </p:nvSpPr>
        <p:spPr>
          <a:xfrm>
            <a:off x="1600200" y="5029199"/>
            <a:ext cx="8686800" cy="365760"/>
          </a:xfrm>
          <a:prstGeom prst="rect">
            <a:avLst/>
          </a:prstGeom>
          <a:noFill/>
        </p:spPr>
        <p:txBody>
          <a:bodyPr wrap="square">
            <a:spAutoFit/>
          </a:bodyPr>
          <a:lstStyle/>
          <a:p>
            <a:pPr algn="l"/>
            <a:r>
              <a:rPr sz="1700" b="0" i="0">
                <a:solidFill>
                  <a:srgbClr val="FFFFFF"/>
                </a:solidFill>
                <a:latin typeface="Calibri"/>
              </a:rPr>
              <a:t>Schedule monthly progress reviews with VC’s office</a:t>
            </a:r>
          </a:p>
        </p:txBody>
      </p:sp>
      <p:sp>
        <p:nvSpPr>
          <p:cNvPr id="24" name="Rectangle 23"/>
          <p:cNvSpPr/>
          <p:nvPr/>
        </p:nvSpPr>
        <p:spPr>
          <a:xfrm>
            <a:off x="1005840" y="5577840"/>
            <a:ext cx="9601200" cy="12700"/>
          </a:xfrm>
          <a:prstGeom prst="rect">
            <a:avLst/>
          </a:prstGeom>
          <a:solidFill>
            <a:srgbClr val="C89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760720"/>
            <a:ext cx="9601200" cy="640080"/>
          </a:xfrm>
          <a:prstGeom prst="rect">
            <a:avLst/>
          </a:prstGeom>
          <a:noFill/>
        </p:spPr>
        <p:txBody>
          <a:bodyPr wrap="square">
            <a:spAutoFit/>
          </a:bodyPr>
          <a:lstStyle/>
          <a:p>
            <a:pPr algn="ctr"/>
            <a:r>
              <a:rPr sz="1600" b="0" i="1">
                <a:solidFill>
                  <a:srgbClr val="E8C85A"/>
                </a:solidFill>
                <a:latin typeface="Calibri"/>
              </a:rPr>
              <a:t>“This is not just about fixing a server. It is about positioning Muteesa I Royal University for the future of higher education in Uganda.”</a:t>
            </a:r>
          </a:p>
        </p:txBody>
      </p:sp>
      <p:sp>
        <p:nvSpPr>
          <p:cNvPr id="26" name="TextBox 25"/>
          <p:cNvSpPr txBox="1"/>
          <p:nvPr/>
        </p:nvSpPr>
        <p:spPr>
          <a:xfrm>
            <a:off x="10972800" y="6419088"/>
            <a:ext cx="914400" cy="274320"/>
          </a:xfrm>
          <a:prstGeom prst="rect">
            <a:avLst/>
          </a:prstGeom>
          <a:noFill/>
        </p:spPr>
        <p:txBody>
          <a:bodyPr wrap="square">
            <a:spAutoFit/>
          </a:bodyPr>
          <a:lstStyle/>
          <a:p>
            <a:pPr algn="r"/>
            <a:r>
              <a:rPr sz="900" b="0" i="0">
                <a:solidFill>
                  <a:srgbClr val="888888"/>
                </a:solidFill>
                <a:latin typeface="Calibri"/>
              </a:rPr>
              <a:t>18/18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1926</Words>
  <Application>Microsoft Macintosh PowerPoint</Application>
  <PresentationFormat>Widescreen</PresentationFormat>
  <Paragraphs>290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Muhindo Mubaraka</cp:lastModifiedBy>
  <cp:revision>2</cp:revision>
  <dcterms:created xsi:type="dcterms:W3CDTF">2013-01-27T09:14:16Z</dcterms:created>
  <dcterms:modified xsi:type="dcterms:W3CDTF">2026-02-11T22:15:06Z</dcterms:modified>
  <cp:category/>
</cp:coreProperties>
</file>